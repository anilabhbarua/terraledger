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Gas Used</c:v>
                </c:pt>
              </c:strCache>
            </c:strRef>
          </c:tx>
          <c:spPr>
            <a:solidFill>
              <a:srgbClr val="2563eb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111827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Deploy Contract</c:v>
                </c:pt>
                <c:pt idx="1">
                  <c:v>registerProperty()</c:v>
                </c:pt>
                <c:pt idx="2">
                  <c:v>requestTransfer()</c:v>
                </c:pt>
                <c:pt idx="3">
                  <c:v>approveTransfer()</c:v>
                </c:pt>
                <c:pt idx="4">
                  <c:v>updateDocument()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2115315</c:v>
                </c:pt>
                <c:pt idx="1">
                  <c:v>244229</c:v>
                </c:pt>
                <c:pt idx="2">
                  <c:v>51500</c:v>
                </c:pt>
                <c:pt idx="3">
                  <c:v>38852</c:v>
                </c:pt>
                <c:pt idx="4">
                  <c:v>47735</c:v>
                </c:pt>
              </c:numCache>
            </c:numRef>
          </c:val>
        </c:ser>
        <c:gapWidth val="150"/>
        <c:overlap val="0"/>
        <c:axId val="50812386"/>
        <c:axId val="19773873"/>
      </c:barChart>
      <c:catAx>
        <c:axId val="5081238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6b7280"/>
                </a:solidFill>
                <a:latin typeface="Calibri"/>
              </a:defRPr>
            </a:pPr>
          </a:p>
        </c:txPr>
        <c:crossAx val="19773873"/>
        <c:crosses val="autoZero"/>
        <c:auto val="1"/>
        <c:lblAlgn val="ctr"/>
        <c:lblOffset val="100"/>
        <c:noMultiLvlLbl val="0"/>
      </c:catAx>
      <c:valAx>
        <c:axId val="19773873"/>
        <c:scaling>
          <c:orientation val="minMax"/>
        </c:scaling>
        <c:delete val="0"/>
        <c:axPos val="l"/>
        <c:majorGridlines>
          <c:spPr>
            <a:ln w="6480">
              <a:solidFill>
                <a:srgbClr val="e5e7e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6b7280"/>
                </a:solidFill>
                <a:latin typeface="Calibri"/>
              </a:defRPr>
            </a:pPr>
          </a:p>
        </c:txPr>
        <c:crossAx val="5081238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260653D-8005-40EF-AE0B-DA970375420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188DA6D-0A75-44EE-8CAE-30804A2D864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C00E120-8E09-45B6-81DE-EC7A72D6284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4EAFD98-3EEB-4CD0-BB6B-A951C952664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CBCB92-FC03-4C73-8F94-B89EFBBF56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90E6B7-9C0B-4043-B30C-FEF2050850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E1AEEF-EA3F-469F-996C-5B88413FFF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C0BB6E7-C8FE-4D71-AA27-FDBCE57F78E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82F55C1-D464-4CA6-B937-7CC99B6F385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D4B62FA-94EF-417D-85E7-E281C788596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821A657-9C22-4C46-BE62-97FBFEB2A53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24F481D-0BE2-4E1A-8A63-02709C0ECD7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53F9F77-EDB1-4A67-9E41-AE714034374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23D8953-AAF8-4EA3-BAD0-D57DE0BB6EE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34E0A85-9507-44FE-8CCC-E80DC1ED316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52365E-9943-4536-8910-7507EFA23B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C18DCC-E954-4336-86B6-5864BFD804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43DB6F-4885-4680-92D8-B725F5282D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40240D8-8D58-446B-A529-215BA744CC0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0B3608-7965-40C5-BCD6-E43FB78CE1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03B78D-D1BD-4971-AEFF-54A2DCFDE8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B6C3E2-A9B3-4618-A431-CF3DBBE00A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490018-0E14-43BC-991A-D1D5BF59132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45360" cy="5143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02920" y="9144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TerraLedger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02920" y="155448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A Decentralized &amp; High Availability Framework for Land Registry Modernization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02920" y="2880360"/>
            <a:ext cx="914040" cy="36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02920" y="301752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Anilabh Barua  |  Rishikesh Verma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Dept. of Information Technology, Gauhati University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Guided by: Dr. Satyajit Sarmah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949440" y="1051560"/>
            <a:ext cx="1919880" cy="475200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949440" y="105156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Ethereum Sepolia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949440" y="1737360"/>
            <a:ext cx="1919880" cy="475200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949440" y="173736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IPFS / Pinata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949440" y="2423160"/>
            <a:ext cx="1919880" cy="475200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949440" y="242316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Solidity v0.8.20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949440" y="3108960"/>
            <a:ext cx="1919880" cy="475200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949440" y="310896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React.js + Ethers.js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949440" y="3794760"/>
            <a:ext cx="1919880" cy="475200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949440" y="379476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Cloudflare Pages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INTRODUCTION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Problem Statement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India's land records system is structurally broken — and it affects millions.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411480" y="1371600"/>
            <a:ext cx="4205880" cy="1416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411480" y="1371600"/>
            <a:ext cx="45360" cy="1416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594360" y="14814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Calibri"/>
                <a:ea typeface="Calibri"/>
              </a:rPr>
              <a:t>Single Point of Failure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594360" y="1828800"/>
            <a:ext cx="3840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Centralized SQL databases vulnerable to server downtime, hacks, and catastrophic data loss.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411480" y="2926080"/>
            <a:ext cx="4205880" cy="1416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411480" y="2926080"/>
            <a:ext cx="45360" cy="1416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594360" y="30358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Calibri"/>
                <a:ea typeface="Calibri"/>
              </a:rPr>
              <a:t>Document Forgery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594360" y="3383280"/>
            <a:ext cx="3840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Paper deeds and digital entries can be altered by corrupt administrators — no cryptographic proof.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4846320" y="1371600"/>
            <a:ext cx="4205880" cy="1416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4846320" y="1371600"/>
            <a:ext cx="45360" cy="1416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5029200" y="14814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Calibri"/>
                <a:ea typeface="Calibri"/>
              </a:rPr>
              <a:t>Bureaucratic Bottlenecks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5029200" y="1828800"/>
            <a:ext cx="3840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Multi-week manual verification processes. The Registration Act of 1908 records transactions, not ownership.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4846320" y="2926080"/>
            <a:ext cx="4205880" cy="1416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4846320" y="2926080"/>
            <a:ext cx="45360" cy="1416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5029200" y="30358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Calibri"/>
                <a:ea typeface="Calibri"/>
              </a:rPr>
              <a:t>Lack of Transparency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5029200" y="3383280"/>
            <a:ext cx="3840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Citizens cannot independently verify records. Systems like DILRMP offer zero cryptographic audit trail.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411480" y="457200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Land-related disputes constitute the majority of civil litigation in India. In flood-prone Assam, physical loss of paper records further complicates title establishment.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SYSTEM ARCHITECTURE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Layered Architecture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Hybrid Ethereum + IPFS model — no centralized backend required.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442800" y="1291320"/>
            <a:ext cx="8229600" cy="360"/>
          </a:xfrm>
          <a:prstGeom prst="line">
            <a:avLst/>
          </a:prstGeom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443160" y="1410120"/>
            <a:ext cx="8229240" cy="5572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43160" y="1410120"/>
            <a:ext cx="1919880" cy="55728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88880" y="1410120"/>
            <a:ext cx="182844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USER LAYER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2500560" y="1410120"/>
            <a:ext cx="60346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Browser + MetaMask Extension  ·  Public citizens &amp; administrators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4283640" y="1968120"/>
            <a:ext cx="456840" cy="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0f7173"/>
                </a:solidFill>
                <a:latin typeface="Calibri"/>
              </a:rPr>
              <a:t>▼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43160" y="2041200"/>
            <a:ext cx="8229240" cy="557280"/>
          </a:xfrm>
          <a:prstGeom prst="rect">
            <a:avLst/>
          </a:prstGeom>
          <a:solidFill>
            <a:srgbClr val="14a29a"/>
          </a:solidFill>
          <a:ln w="12700">
            <a:solidFill>
              <a:srgbClr val="14a2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443160" y="2041200"/>
            <a:ext cx="1919880" cy="55728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488880" y="2041200"/>
            <a:ext cx="182844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FRONTEND LAYER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2500560" y="2041200"/>
            <a:ext cx="60346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React.js / Vite  ·  Cloudflare Pages CDN  ·  NetworkGuard component  ·  ethers.js v6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4283640" y="2598840"/>
            <a:ext cx="456840" cy="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0f7173"/>
                </a:solidFill>
                <a:latin typeface="Calibri"/>
              </a:rPr>
              <a:t>▼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443160" y="2672280"/>
            <a:ext cx="8229240" cy="55728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443160" y="2672280"/>
            <a:ext cx="1919880" cy="55728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488880" y="2672280"/>
            <a:ext cx="182844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RPC / MIDDLEWARE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2500560" y="2672280"/>
            <a:ext cx="60346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Alchemy RPC (Primary)  →  Public Sepolia Node (Fallback)  ·  DEPLOY_BLOCK = #10,725,429 optimization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4283640" y="3229920"/>
            <a:ext cx="456840" cy="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0f7173"/>
                </a:solidFill>
                <a:latin typeface="Calibri"/>
              </a:rPr>
              <a:t>▼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0"/>
          <p:cNvSpPr/>
          <p:nvPr/>
        </p:nvSpPr>
        <p:spPr>
          <a:xfrm>
            <a:off x="443160" y="3303000"/>
            <a:ext cx="8229240" cy="557280"/>
          </a:xfrm>
          <a:prstGeom prst="rect">
            <a:avLst/>
          </a:prstGeom>
          <a:solidFill>
            <a:srgbClr val="1a6b6d"/>
          </a:solidFill>
          <a:ln w="12700">
            <a:solidFill>
              <a:srgbClr val="1a6b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443160" y="3303000"/>
            <a:ext cx="1919880" cy="55728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488880" y="3303000"/>
            <a:ext cx="182844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BLOCKCHAIN LAYER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3"/>
          <p:cNvSpPr/>
          <p:nvPr/>
        </p:nvSpPr>
        <p:spPr>
          <a:xfrm>
            <a:off x="2500560" y="3303000"/>
            <a:ext cx="60346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TerraLedger.sol on Ethereum Sepolia  ·  OpenZeppelin RBAC  ·  Immutable property registry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4"/>
          <p:cNvSpPr/>
          <p:nvPr/>
        </p:nvSpPr>
        <p:spPr>
          <a:xfrm>
            <a:off x="4283640" y="3861000"/>
            <a:ext cx="456840" cy="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0f7173"/>
                </a:solidFill>
                <a:latin typeface="Calibri"/>
              </a:rPr>
              <a:t>▼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5"/>
          <p:cNvSpPr/>
          <p:nvPr/>
        </p:nvSpPr>
        <p:spPr>
          <a:xfrm>
            <a:off x="443160" y="3934080"/>
            <a:ext cx="8229240" cy="55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26"/>
          <p:cNvSpPr/>
          <p:nvPr/>
        </p:nvSpPr>
        <p:spPr>
          <a:xfrm>
            <a:off x="443160" y="3934080"/>
            <a:ext cx="1919880" cy="55728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7"/>
          <p:cNvSpPr/>
          <p:nvPr/>
        </p:nvSpPr>
        <p:spPr>
          <a:xfrm>
            <a:off x="488880" y="3934080"/>
            <a:ext cx="182844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STORAGE LAYER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8"/>
          <p:cNvSpPr/>
          <p:nvPr/>
        </p:nvSpPr>
        <p:spPr>
          <a:xfrm>
            <a:off x="2500560" y="3934080"/>
            <a:ext cx="60346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IPFS via Pinata  ·  CID stored on-chain  ·  Content-addressed document verification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9"/>
          <p:cNvSpPr/>
          <p:nvPr/>
        </p:nvSpPr>
        <p:spPr>
          <a:xfrm>
            <a:off x="457200" y="4617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75569"/>
                </a:solidFill>
                <a:latin typeface="Calibri"/>
              </a:rPr>
              <a:t>Dynamic RPC Fallback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75569"/>
                </a:solidFill>
                <a:latin typeface="Calibri"/>
              </a:rPr>
              <a:t>Wallet-less users automatically route via public Sepolia node for unrestricted eth_getLogs access.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59"/>
          <p:cNvSpPr/>
          <p:nvPr/>
        </p:nvSpPr>
        <p:spPr>
          <a:xfrm>
            <a:off x="411480" y="1263600"/>
            <a:ext cx="8320680" cy="793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61"/>
          <p:cNvSpPr/>
          <p:nvPr/>
        </p:nvSpPr>
        <p:spPr>
          <a:xfrm>
            <a:off x="411480" y="1263600"/>
            <a:ext cx="274320" cy="793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83"/>
          <p:cNvSpPr/>
          <p:nvPr/>
        </p:nvSpPr>
        <p:spPr>
          <a:xfrm>
            <a:off x="594360" y="12654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dc2626"/>
                </a:solidFill>
                <a:latin typeface="Calibri"/>
                <a:ea typeface="Calibri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84"/>
          <p:cNvSpPr/>
          <p:nvPr/>
        </p:nvSpPr>
        <p:spPr>
          <a:xfrm>
            <a:off x="982440" y="1300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P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r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o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b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le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m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 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A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n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al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y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si</a:t>
            </a: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85"/>
          <p:cNvSpPr/>
          <p:nvPr/>
        </p:nvSpPr>
        <p:spPr>
          <a:xfrm>
            <a:off x="914400" y="1456200"/>
            <a:ext cx="7452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Reviewed DILRMP limitations | Analyzed Registration Act 1908 | Studied centralized registry vulnerabilities | Identified Assam flood-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related risks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8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DEVELOPMENT &amp; METHODOLOGY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8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Development Methodology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8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Research-driven approach: Problem Analysis → Design → Implementation → Testing → Validation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56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62"/>
          <p:cNvSpPr/>
          <p:nvPr/>
        </p:nvSpPr>
        <p:spPr>
          <a:xfrm>
            <a:off x="411480" y="2233440"/>
            <a:ext cx="832068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63"/>
          <p:cNvSpPr/>
          <p:nvPr/>
        </p:nvSpPr>
        <p:spPr>
          <a:xfrm>
            <a:off x="411480" y="2233440"/>
            <a:ext cx="27432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86"/>
          <p:cNvSpPr/>
          <p:nvPr/>
        </p:nvSpPr>
        <p:spPr>
          <a:xfrm>
            <a:off x="594360" y="227124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d97706"/>
                </a:solidFill>
                <a:latin typeface="Calibri"/>
                <a:ea typeface="Calibr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87"/>
          <p:cNvSpPr/>
          <p:nvPr/>
        </p:nvSpPr>
        <p:spPr>
          <a:xfrm>
            <a:off x="982440" y="230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Research &amp; Design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88"/>
          <p:cNvSpPr/>
          <p:nvPr/>
        </p:nvSpPr>
        <p:spPr>
          <a:xfrm>
            <a:off x="982440" y="2473560"/>
            <a:ext cx="7131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Studied blockchain + IPFS hybrid models | Designed zero-trust verification protocol | Created FSM for ownership transfers | Architected RBAC hierarchy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66"/>
          <p:cNvSpPr/>
          <p:nvPr/>
        </p:nvSpPr>
        <p:spPr>
          <a:xfrm>
            <a:off x="411480" y="3239280"/>
            <a:ext cx="832068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68"/>
          <p:cNvSpPr/>
          <p:nvPr/>
        </p:nvSpPr>
        <p:spPr>
          <a:xfrm>
            <a:off x="411480" y="3239280"/>
            <a:ext cx="27432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89"/>
          <p:cNvSpPr/>
          <p:nvPr/>
        </p:nvSpPr>
        <p:spPr>
          <a:xfrm>
            <a:off x="594360" y="3277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563eb"/>
                </a:solidFill>
                <a:latin typeface="Calibri"/>
                <a:ea typeface="Calibr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90"/>
          <p:cNvSpPr/>
          <p:nvPr/>
        </p:nvSpPr>
        <p:spPr>
          <a:xfrm>
            <a:off x="982440" y="33123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Implementation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91"/>
          <p:cNvSpPr/>
          <p:nvPr/>
        </p:nvSpPr>
        <p:spPr>
          <a:xfrm>
            <a:off x="982440" y="3479400"/>
            <a:ext cx="7131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Developed TerraLedger.sol (Solidity v0.8.20) | Built React.js frontend (Vite + Ethers.js) | Integrated Pinata IPFS service | Deployed to Ethereum Sepolia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69"/>
          <p:cNvSpPr/>
          <p:nvPr/>
        </p:nvSpPr>
        <p:spPr>
          <a:xfrm>
            <a:off x="411480" y="4209120"/>
            <a:ext cx="8320680" cy="75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70"/>
          <p:cNvSpPr/>
          <p:nvPr/>
        </p:nvSpPr>
        <p:spPr>
          <a:xfrm>
            <a:off x="411480" y="4209120"/>
            <a:ext cx="274320" cy="754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630360" y="42829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59669"/>
                </a:solidFill>
                <a:latin typeface="Calibri"/>
                <a:ea typeface="Calibri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1018440" y="42822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Testing &amp; Validation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1018440" y="4413240"/>
            <a:ext cx="7131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Multi-user RBAC simulation (3 wallets) | Gas consumption measurements (Hardhat + live) | Zero-trust verification proof testing | Security threat modeling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95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RESEARCH FOUNDATION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Research </a:t>
            </a: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Methodolo</a:t>
            </a: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gy &amp; Data </a:t>
            </a: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Sources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Academic rigor: empirical </a:t>
            </a: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measurements, peer-</a:t>
            </a: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reviewed standards, and </a:t>
            </a: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reproducible testing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06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98"/>
          <p:cNvSpPr/>
          <p:nvPr/>
        </p:nvSpPr>
        <p:spPr>
          <a:xfrm>
            <a:off x="339480" y="165960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563eb"/>
                </a:solidFill>
                <a:latin typeface="Calibri"/>
                <a:ea typeface="Calibri"/>
              </a:rPr>
              <a:t>Quantitative Research </a:t>
            </a:r>
            <a:r>
              <a:rPr b="1" lang="en-US" sz="1200" spc="-1" strike="noStrike">
                <a:solidFill>
                  <a:srgbClr val="2563eb"/>
                </a:solidFill>
                <a:latin typeface="Calibri"/>
                <a:ea typeface="Calibri"/>
              </a:rPr>
              <a:t>Methods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07"/>
          <p:cNvSpPr/>
          <p:nvPr/>
        </p:nvSpPr>
        <p:spPr>
          <a:xfrm>
            <a:off x="339480" y="1979640"/>
            <a:ext cx="4114440" cy="402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99"/>
          <p:cNvSpPr/>
          <p:nvPr/>
        </p:nvSpPr>
        <p:spPr>
          <a:xfrm>
            <a:off x="476640" y="201636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Gas Consumption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00"/>
          <p:cNvSpPr/>
          <p:nvPr/>
        </p:nvSpPr>
        <p:spPr>
          <a:xfrm>
            <a:off x="1619640" y="2016360"/>
            <a:ext cx="2559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Live Sepolia testnet (TxHash: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0x9800ae6c...) | Hardhat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deterministic simulation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01"/>
          <p:cNvSpPr/>
          <p:nvPr/>
        </p:nvSpPr>
        <p:spPr>
          <a:xfrm>
            <a:off x="3585600" y="209844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Empirical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08"/>
          <p:cNvSpPr/>
          <p:nvPr/>
        </p:nvSpPr>
        <p:spPr>
          <a:xfrm>
            <a:off x="339480" y="2436840"/>
            <a:ext cx="411444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02"/>
          <p:cNvSpPr/>
          <p:nvPr/>
        </p:nvSpPr>
        <p:spPr>
          <a:xfrm>
            <a:off x="476640" y="247356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Block Interval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03"/>
          <p:cNvSpPr/>
          <p:nvPr/>
        </p:nvSpPr>
        <p:spPr>
          <a:xfrm>
            <a:off x="1619640" y="2473560"/>
            <a:ext cx="2559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Empirically observed: 12s per block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| 1-3 transactions per TX broadcast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04"/>
          <p:cNvSpPr/>
          <p:nvPr/>
        </p:nvSpPr>
        <p:spPr>
          <a:xfrm>
            <a:off x="3585600" y="255564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Field measurement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339480" y="2894040"/>
            <a:ext cx="4114440" cy="402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05"/>
          <p:cNvSpPr/>
          <p:nvPr/>
        </p:nvSpPr>
        <p:spPr>
          <a:xfrm>
            <a:off x="476640" y="293076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Transaction Latency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06"/>
          <p:cNvSpPr/>
          <p:nvPr/>
        </p:nvSpPr>
        <p:spPr>
          <a:xfrm>
            <a:off x="1619640" y="2930760"/>
            <a:ext cx="2559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IPFS: 2-5s, Blockchain: ~12s per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block | 3-block confirmation: ~36s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total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16"/>
          <p:cNvSpPr/>
          <p:nvPr/>
        </p:nvSpPr>
        <p:spPr>
          <a:xfrm>
            <a:off x="3585600" y="301284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Performance analysis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10"/>
          <p:cNvSpPr/>
          <p:nvPr/>
        </p:nvSpPr>
        <p:spPr>
          <a:xfrm>
            <a:off x="339480" y="3351240"/>
            <a:ext cx="411444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17"/>
          <p:cNvSpPr/>
          <p:nvPr/>
        </p:nvSpPr>
        <p:spPr>
          <a:xfrm>
            <a:off x="476640" y="338796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Economic Cost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18"/>
          <p:cNvSpPr/>
          <p:nvPr/>
        </p:nvSpPr>
        <p:spPr>
          <a:xfrm>
            <a:off x="1619640" y="3387960"/>
            <a:ext cx="2559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244,229 gas @ 1.505 Gwei =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0.00037 ETH | 98.74% gas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efficiency demonstrated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19"/>
          <p:cNvSpPr/>
          <p:nvPr/>
        </p:nvSpPr>
        <p:spPr>
          <a:xfrm>
            <a:off x="3585600" y="347004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Cost-benefit analysis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20"/>
          <p:cNvSpPr/>
          <p:nvPr/>
        </p:nvSpPr>
        <p:spPr>
          <a:xfrm>
            <a:off x="4682880" y="165960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Qualitative Research 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Methods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11"/>
          <p:cNvSpPr/>
          <p:nvPr/>
        </p:nvSpPr>
        <p:spPr>
          <a:xfrm>
            <a:off x="4682880" y="1979640"/>
            <a:ext cx="3977280" cy="40212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21"/>
          <p:cNvSpPr/>
          <p:nvPr/>
        </p:nvSpPr>
        <p:spPr>
          <a:xfrm>
            <a:off x="4820040" y="201636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alibri"/>
                <a:ea typeface="Calibri"/>
              </a:rPr>
              <a:t>Comparative Analysis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22"/>
          <p:cNvSpPr/>
          <p:nvPr/>
        </p:nvSpPr>
        <p:spPr>
          <a:xfrm>
            <a:off x="5963040" y="201636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DILRMP, Bhoomi, Dharani, Propy, Chromaway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23"/>
          <p:cNvSpPr/>
          <p:nvPr/>
        </p:nvSpPr>
        <p:spPr>
          <a:xfrm>
            <a:off x="7380360" y="2098440"/>
            <a:ext cx="1279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8-feature comparison matrix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12"/>
          <p:cNvSpPr/>
          <p:nvPr/>
        </p:nvSpPr>
        <p:spPr>
          <a:xfrm>
            <a:off x="4682880" y="2436840"/>
            <a:ext cx="39772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224"/>
          <p:cNvSpPr/>
          <p:nvPr/>
        </p:nvSpPr>
        <p:spPr>
          <a:xfrm>
            <a:off x="4820040" y="247356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alibri"/>
                <a:ea typeface="Calibri"/>
              </a:rPr>
              <a:t>Security Modeling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25"/>
          <p:cNvSpPr/>
          <p:nvPr/>
        </p:nvSpPr>
        <p:spPr>
          <a:xfrm>
            <a:off x="5963040" y="247356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Threat analysis, OpenZeppelin audit practices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26"/>
          <p:cNvSpPr/>
          <p:nvPr/>
        </p:nvSpPr>
        <p:spPr>
          <a:xfrm>
            <a:off x="7380360" y="2555640"/>
            <a:ext cx="1279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FSM formalization: Γ(S,σ)→S'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13"/>
          <p:cNvSpPr/>
          <p:nvPr/>
        </p:nvSpPr>
        <p:spPr>
          <a:xfrm>
            <a:off x="4682880" y="2894040"/>
            <a:ext cx="3977280" cy="40212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27"/>
          <p:cNvSpPr/>
          <p:nvPr/>
        </p:nvSpPr>
        <p:spPr>
          <a:xfrm>
            <a:off x="4820040" y="293076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alibri"/>
                <a:ea typeface="Calibri"/>
              </a:rPr>
              <a:t>Literature Review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28"/>
          <p:cNvSpPr/>
          <p:nvPr/>
        </p:nvSpPr>
        <p:spPr>
          <a:xfrm>
            <a:off x="5963040" y="293076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Registration Act 1908, Mission Basundhara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29"/>
          <p:cNvSpPr/>
          <p:nvPr/>
        </p:nvSpPr>
        <p:spPr>
          <a:xfrm>
            <a:off x="7380360" y="3012840"/>
            <a:ext cx="1279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DILRMP official reports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14"/>
          <p:cNvSpPr/>
          <p:nvPr/>
        </p:nvSpPr>
        <p:spPr>
          <a:xfrm>
            <a:off x="4682880" y="3351240"/>
            <a:ext cx="39772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30"/>
          <p:cNvSpPr/>
          <p:nvPr/>
        </p:nvSpPr>
        <p:spPr>
          <a:xfrm>
            <a:off x="4820040" y="338796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alibri"/>
                <a:ea typeface="Calibri"/>
              </a:rPr>
              <a:t>Case Study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31"/>
          <p:cNvSpPr/>
          <p:nvPr/>
        </p:nvSpPr>
        <p:spPr>
          <a:xfrm>
            <a:off x="5963040" y="338796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Assam flood impact on physical records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32"/>
          <p:cNvSpPr/>
          <p:nvPr/>
        </p:nvSpPr>
        <p:spPr>
          <a:xfrm>
            <a:off x="7380360" y="3470040"/>
            <a:ext cx="1279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Systemic vulnerabilities identified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39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DEVELOPMENT STACK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43"/>
          <p:cNvSpPr/>
          <p:nvPr/>
        </p:nvSpPr>
        <p:spPr>
          <a:xfrm>
            <a:off x="375480" y="239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Technology Stack &amp; Development Tools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44"/>
          <p:cNvSpPr/>
          <p:nvPr/>
        </p:nvSpPr>
        <p:spPr>
          <a:xfrm>
            <a:off x="411480" y="680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Complete toolchain for research, development, and deployment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33"/>
          <p:cNvSpPr/>
          <p:nvPr/>
        </p:nvSpPr>
        <p:spPr>
          <a:xfrm>
            <a:off x="411480" y="936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35"/>
          <p:cNvSpPr/>
          <p:nvPr/>
        </p:nvSpPr>
        <p:spPr>
          <a:xfrm>
            <a:off x="411480" y="1119600"/>
            <a:ext cx="8320680" cy="347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8"/>
          <p:cNvSpPr/>
          <p:nvPr/>
        </p:nvSpPr>
        <p:spPr>
          <a:xfrm>
            <a:off x="411480" y="1119600"/>
            <a:ext cx="45360" cy="347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46"/>
          <p:cNvSpPr/>
          <p:nvPr/>
        </p:nvSpPr>
        <p:spPr>
          <a:xfrm>
            <a:off x="594360" y="1165320"/>
            <a:ext cx="7954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563eb"/>
                </a:solidFill>
                <a:latin typeface="Calibri"/>
                <a:ea typeface="Calibri"/>
              </a:rPr>
              <a:t>Smart Contract Development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50"/>
          <p:cNvSpPr/>
          <p:nvPr/>
        </p:nvSpPr>
        <p:spPr>
          <a:xfrm>
            <a:off x="731520" y="15037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Solidity v0.8.20 — Smart contract language (EVM bytecode compilation)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51"/>
          <p:cNvSpPr/>
          <p:nvPr/>
        </p:nvSpPr>
        <p:spPr>
          <a:xfrm>
            <a:off x="731520" y="167976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OpenZeppelin v5 — AccessControl, RBAC framework (Battle-tested security libraries)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53"/>
          <p:cNvSpPr/>
          <p:nvPr/>
        </p:nvSpPr>
        <p:spPr>
          <a:xfrm>
            <a:off x="731520" y="189180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Hardhat v2.22 — Local blockchain simulator (Testing, debugging, artifact generation)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57"/>
          <p:cNvSpPr/>
          <p:nvPr/>
        </p:nvSpPr>
        <p:spPr>
          <a:xfrm>
            <a:off x="731520" y="231984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Chai — Assertion library (Test case validation)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40"/>
          <p:cNvSpPr/>
          <p:nvPr/>
        </p:nvSpPr>
        <p:spPr>
          <a:xfrm>
            <a:off x="411480" y="2210040"/>
            <a:ext cx="8320680" cy="347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41"/>
          <p:cNvSpPr/>
          <p:nvPr/>
        </p:nvSpPr>
        <p:spPr>
          <a:xfrm>
            <a:off x="411480" y="2210040"/>
            <a:ext cx="45360" cy="347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58"/>
          <p:cNvSpPr/>
          <p:nvPr/>
        </p:nvSpPr>
        <p:spPr>
          <a:xfrm>
            <a:off x="594360" y="2255760"/>
            <a:ext cx="7954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f46e5"/>
                </a:solidFill>
                <a:latin typeface="Calibri"/>
                <a:ea typeface="Calibri"/>
              </a:rPr>
              <a:t>Frontend Development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60"/>
          <p:cNvSpPr/>
          <p:nvPr/>
        </p:nvSpPr>
        <p:spPr>
          <a:xfrm>
            <a:off x="731520" y="259416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React.js v18 — UI component framework (State management, hooks)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64"/>
          <p:cNvSpPr/>
          <p:nvPr/>
        </p:nvSpPr>
        <p:spPr>
          <a:xfrm>
            <a:off x="731520" y="284220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Vite v7 — Lightning-fast build tool (Dev server, HMR, optimization)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65"/>
          <p:cNvSpPr/>
          <p:nvPr/>
        </p:nvSpPr>
        <p:spPr>
          <a:xfrm>
            <a:off x="731520" y="305424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Ethers.js v6 — Ethereum JavaScript library (Contract interaction, wallet signing)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67"/>
          <p:cNvSpPr/>
          <p:nvPr/>
        </p:nvSpPr>
        <p:spPr>
          <a:xfrm>
            <a:off x="695520" y="369828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Cloudflare Pages — Global CDN hosting (Auto-deploy from GitHub, zero-downtime)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42"/>
          <p:cNvSpPr/>
          <p:nvPr/>
        </p:nvSpPr>
        <p:spPr>
          <a:xfrm>
            <a:off x="375480" y="3326760"/>
            <a:ext cx="8320680" cy="347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45"/>
          <p:cNvSpPr/>
          <p:nvPr/>
        </p:nvSpPr>
        <p:spPr>
          <a:xfrm>
            <a:off x="375480" y="3326760"/>
            <a:ext cx="45360" cy="347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71"/>
          <p:cNvSpPr/>
          <p:nvPr/>
        </p:nvSpPr>
        <p:spPr>
          <a:xfrm>
            <a:off x="558360" y="3372480"/>
            <a:ext cx="7954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Storage &amp; Infrastructure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72"/>
          <p:cNvSpPr/>
          <p:nvPr/>
        </p:nvSpPr>
        <p:spPr>
          <a:xfrm>
            <a:off x="695520" y="392688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IPFS (Pinata) — Decentralized file storage (Content-addressed pinning service)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73"/>
          <p:cNvSpPr/>
          <p:nvPr/>
        </p:nvSpPr>
        <p:spPr>
          <a:xfrm>
            <a:off x="695520" y="41389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Alchemy RPC — Ethereum node provider (Primary: unrestricted queries)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74"/>
          <p:cNvSpPr/>
          <p:nvPr/>
        </p:nvSpPr>
        <p:spPr>
          <a:xfrm>
            <a:off x="695520" y="435096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Public Sepolia Node — Fallback RPC provider (Wallet-less high-volume access)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75"/>
          <p:cNvSpPr/>
          <p:nvPr/>
        </p:nvSpPr>
        <p:spPr>
          <a:xfrm>
            <a:off x="695520" y="456300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Ethereum Sepolia — Testnet blockchain (Free test ETH from faucets)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ZERO-TRUST VERIFICATION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Document Verification Protocol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V = 1 if H(F_local) = H(F_ipfs)  |  Pr(forgery) ≈ 1 / 2²⁵⁶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228600" y="2103120"/>
            <a:ext cx="1599840" cy="9140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228600" y="210312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User Selects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Local File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6"/>
          <p:cNvSpPr/>
          <p:nvPr/>
        </p:nvSpPr>
        <p:spPr>
          <a:xfrm>
            <a:off x="1828800" y="2560320"/>
            <a:ext cx="411480" cy="3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7"/>
          <p:cNvSpPr/>
          <p:nvPr/>
        </p:nvSpPr>
        <p:spPr>
          <a:xfrm>
            <a:off x="2011680" y="2103120"/>
            <a:ext cx="1599840" cy="9140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2011680" y="210312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Compute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SHA-256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Locally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9"/>
          <p:cNvSpPr/>
          <p:nvPr/>
        </p:nvSpPr>
        <p:spPr>
          <a:xfrm>
            <a:off x="3611880" y="2560320"/>
            <a:ext cx="411480" cy="3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0"/>
          <p:cNvSpPr/>
          <p:nvPr/>
        </p:nvSpPr>
        <p:spPr>
          <a:xfrm>
            <a:off x="3794760" y="2103120"/>
            <a:ext cx="1599840" cy="9140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3794760" y="210312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Retrieve CID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from Blockchain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(documentHash)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2"/>
          <p:cNvSpPr/>
          <p:nvPr/>
        </p:nvSpPr>
        <p:spPr>
          <a:xfrm>
            <a:off x="5394960" y="2560320"/>
            <a:ext cx="411480" cy="3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3"/>
          <p:cNvSpPr/>
          <p:nvPr/>
        </p:nvSpPr>
        <p:spPr>
          <a:xfrm>
            <a:off x="5577840" y="2103120"/>
            <a:ext cx="1599840" cy="9140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5577840" y="210312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Fetch File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from IPFS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Compute SHA-256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5"/>
          <p:cNvSpPr/>
          <p:nvPr/>
        </p:nvSpPr>
        <p:spPr>
          <a:xfrm>
            <a:off x="7178040" y="2560320"/>
            <a:ext cx="411480" cy="3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6"/>
          <p:cNvSpPr/>
          <p:nvPr/>
        </p:nvSpPr>
        <p:spPr>
          <a:xfrm>
            <a:off x="7360920" y="2103120"/>
            <a:ext cx="1599840" cy="9140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7360920" y="210312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Compare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Hashes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228600" y="187452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Step 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2011680" y="187452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Step 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0"/>
          <p:cNvSpPr/>
          <p:nvPr/>
        </p:nvSpPr>
        <p:spPr>
          <a:xfrm>
            <a:off x="3794760" y="187452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Step 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1"/>
          <p:cNvSpPr/>
          <p:nvPr/>
        </p:nvSpPr>
        <p:spPr>
          <a:xfrm>
            <a:off x="5577840" y="187452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Step 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2"/>
          <p:cNvSpPr/>
          <p:nvPr/>
        </p:nvSpPr>
        <p:spPr>
          <a:xfrm>
            <a:off x="7360920" y="187452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Step 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3"/>
          <p:cNvSpPr/>
          <p:nvPr/>
        </p:nvSpPr>
        <p:spPr>
          <a:xfrm>
            <a:off x="7406640" y="3241440"/>
            <a:ext cx="1599840" cy="776880"/>
          </a:xfrm>
          <a:prstGeom prst="diamond">
            <a:avLst/>
          </a:prstGeom>
          <a:solidFill>
            <a:srgbClr val="fffbeb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7360920" y="3246120"/>
            <a:ext cx="1599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Match?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5"/>
          <p:cNvSpPr/>
          <p:nvPr/>
        </p:nvSpPr>
        <p:spPr>
          <a:xfrm flipH="1">
            <a:off x="6627600" y="3636360"/>
            <a:ext cx="777240" cy="0"/>
          </a:xfrm>
          <a:prstGeom prst="line">
            <a:avLst/>
          </a:prstGeom>
          <a:ln w="1905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6"/>
          <p:cNvSpPr/>
          <p:nvPr/>
        </p:nvSpPr>
        <p:spPr>
          <a:xfrm>
            <a:off x="8168040" y="4114800"/>
            <a:ext cx="518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YES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7"/>
          <p:cNvSpPr/>
          <p:nvPr/>
        </p:nvSpPr>
        <p:spPr>
          <a:xfrm>
            <a:off x="8165520" y="4023360"/>
            <a:ext cx="360" cy="360"/>
          </a:xfrm>
          <a:prstGeom prst="line">
            <a:avLst/>
          </a:prstGeom>
          <a:ln w="1905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8"/>
          <p:cNvSpPr/>
          <p:nvPr/>
        </p:nvSpPr>
        <p:spPr>
          <a:xfrm>
            <a:off x="6949440" y="369360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NO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9"/>
          <p:cNvSpPr/>
          <p:nvPr/>
        </p:nvSpPr>
        <p:spPr>
          <a:xfrm>
            <a:off x="5210280" y="3403080"/>
            <a:ext cx="1416960" cy="5025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30"/>
          <p:cNvSpPr/>
          <p:nvPr/>
        </p:nvSpPr>
        <p:spPr>
          <a:xfrm>
            <a:off x="5166360" y="340776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TAMPERED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31"/>
          <p:cNvSpPr/>
          <p:nvPr/>
        </p:nvSpPr>
        <p:spPr>
          <a:xfrm>
            <a:off x="8229600" y="4018680"/>
            <a:ext cx="360" cy="608040"/>
          </a:xfrm>
          <a:prstGeom prst="line">
            <a:avLst/>
          </a:prstGeom>
          <a:ln w="1905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2"/>
          <p:cNvSpPr/>
          <p:nvPr/>
        </p:nvSpPr>
        <p:spPr>
          <a:xfrm>
            <a:off x="7589520" y="4572000"/>
            <a:ext cx="1279800" cy="4111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33"/>
          <p:cNvSpPr/>
          <p:nvPr/>
        </p:nvSpPr>
        <p:spPr>
          <a:xfrm>
            <a:off x="7589520" y="4572000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59669"/>
                </a:solidFill>
                <a:latin typeface="Calibri"/>
                <a:ea typeface="Calibri"/>
              </a:rPr>
              <a:t>AUTHENTIC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4"/>
          <p:cNvSpPr/>
          <p:nvPr/>
        </p:nvSpPr>
        <p:spPr>
          <a:xfrm>
            <a:off x="228600" y="4434840"/>
            <a:ext cx="7131960" cy="5025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35"/>
          <p:cNvSpPr/>
          <p:nvPr/>
        </p:nvSpPr>
        <p:spPr>
          <a:xfrm>
            <a:off x="411480" y="449892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SHA-256 is collision-resistant — Pr(forgery) ≈ 1 in 2²⁵⁶ ≈ 1.16 × 10⁻⁷⁷.  File never leaves the user's browser; hashing is entirely client-side via CryptoJS.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1"/>
          <p:cNvSpPr/>
          <p:nvPr/>
        </p:nvSpPr>
        <p:spPr>
          <a:xfrm>
            <a:off x="8229600" y="3017520"/>
            <a:ext cx="360" cy="228600"/>
          </a:xfrm>
          <a:prstGeom prst="line">
            <a:avLst/>
          </a:prstGeom>
          <a:ln w="1905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SMART CONTRACT DESIGN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Role-Based Access Control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OpenZeppelin AccessControl — models real-world legal hierarchies.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4"/>
          <p:cNvSpPr/>
          <p:nvPr/>
        </p:nvSpPr>
        <p:spPr>
          <a:xfrm>
            <a:off x="3383280" y="1371600"/>
            <a:ext cx="2559960" cy="749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5"/>
          <p:cNvSpPr/>
          <p:nvPr/>
        </p:nvSpPr>
        <p:spPr>
          <a:xfrm>
            <a:off x="3383280" y="1371600"/>
            <a:ext cx="45360" cy="749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3520440" y="14630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DEFAULT_ADMIN_ROLE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7"/>
          <p:cNvSpPr/>
          <p:nvPr/>
        </p:nvSpPr>
        <p:spPr>
          <a:xfrm>
            <a:off x="3520440" y="17740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Supreme deployer. Halts system, initiates upgrades.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8"/>
          <p:cNvSpPr/>
          <p:nvPr/>
        </p:nvSpPr>
        <p:spPr>
          <a:xfrm>
            <a:off x="1371600" y="2423160"/>
            <a:ext cx="2559960" cy="749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9"/>
          <p:cNvSpPr/>
          <p:nvPr/>
        </p:nvSpPr>
        <p:spPr>
          <a:xfrm>
            <a:off x="1371600" y="2423160"/>
            <a:ext cx="45360" cy="749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0"/>
          <p:cNvSpPr/>
          <p:nvPr/>
        </p:nvSpPr>
        <p:spPr>
          <a:xfrm>
            <a:off x="1508760" y="2514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AUTHORITY_ROLE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1"/>
          <p:cNvSpPr/>
          <p:nvPr/>
        </p:nvSpPr>
        <p:spPr>
          <a:xfrm>
            <a:off x="1508760" y="282564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Grants / revokes Registrar privileges via RoleManager.jsx.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2"/>
          <p:cNvSpPr/>
          <p:nvPr/>
        </p:nvSpPr>
        <p:spPr>
          <a:xfrm>
            <a:off x="5303520" y="2423160"/>
            <a:ext cx="2559960" cy="749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3"/>
          <p:cNvSpPr/>
          <p:nvPr/>
        </p:nvSpPr>
        <p:spPr>
          <a:xfrm>
            <a:off x="5303520" y="2423160"/>
            <a:ext cx="45360" cy="749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4"/>
          <p:cNvSpPr/>
          <p:nvPr/>
        </p:nvSpPr>
        <p:spPr>
          <a:xfrm>
            <a:off x="5440680" y="2514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REGISTRAR_ROLE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5"/>
          <p:cNvSpPr/>
          <p:nvPr/>
        </p:nvSpPr>
        <p:spPr>
          <a:xfrm>
            <a:off x="5440680" y="282564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Mints titles, approves transfers, submits corrections.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6"/>
          <p:cNvSpPr/>
          <p:nvPr/>
        </p:nvSpPr>
        <p:spPr>
          <a:xfrm>
            <a:off x="1371600" y="3474720"/>
            <a:ext cx="2559960" cy="749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7"/>
          <p:cNvSpPr/>
          <p:nvPr/>
        </p:nvSpPr>
        <p:spPr>
          <a:xfrm>
            <a:off x="1371600" y="3474720"/>
            <a:ext cx="45360" cy="749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8"/>
          <p:cNvSpPr/>
          <p:nvPr/>
        </p:nvSpPr>
        <p:spPr>
          <a:xfrm>
            <a:off x="1508760" y="35661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PROPERTY OWNER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9"/>
          <p:cNvSpPr/>
          <p:nvPr/>
        </p:nvSpPr>
        <p:spPr>
          <a:xfrm>
            <a:off x="1508760" y="387720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Holds title. Can request a transfer to a buyer.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0"/>
          <p:cNvSpPr/>
          <p:nvPr/>
        </p:nvSpPr>
        <p:spPr>
          <a:xfrm>
            <a:off x="5303520" y="3474720"/>
            <a:ext cx="2559960" cy="749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1"/>
          <p:cNvSpPr/>
          <p:nvPr/>
        </p:nvSpPr>
        <p:spPr>
          <a:xfrm>
            <a:off x="5303520" y="3474720"/>
            <a:ext cx="45360" cy="7495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22"/>
          <p:cNvSpPr/>
          <p:nvPr/>
        </p:nvSpPr>
        <p:spPr>
          <a:xfrm>
            <a:off x="5440680" y="35661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PUBLIC CITIZEN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3"/>
          <p:cNvSpPr/>
          <p:nvPr/>
        </p:nvSpPr>
        <p:spPr>
          <a:xfrm>
            <a:off x="5440680" y="387720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Wallet-less read access to any record.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4"/>
          <p:cNvSpPr/>
          <p:nvPr/>
        </p:nvSpPr>
        <p:spPr>
          <a:xfrm flipH="1">
            <a:off x="2651760" y="2121120"/>
            <a:ext cx="2011680" cy="30204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25"/>
          <p:cNvSpPr/>
          <p:nvPr/>
        </p:nvSpPr>
        <p:spPr>
          <a:xfrm>
            <a:off x="4663440" y="2121120"/>
            <a:ext cx="1920240" cy="30204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6"/>
          <p:cNvSpPr/>
          <p:nvPr/>
        </p:nvSpPr>
        <p:spPr>
          <a:xfrm>
            <a:off x="2651760" y="3172680"/>
            <a:ext cx="360" cy="30204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7"/>
          <p:cNvSpPr/>
          <p:nvPr/>
        </p:nvSpPr>
        <p:spPr>
          <a:xfrm>
            <a:off x="6583680" y="3172680"/>
            <a:ext cx="360" cy="30204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28"/>
          <p:cNvSpPr/>
          <p:nvPr/>
        </p:nvSpPr>
        <p:spPr>
          <a:xfrm>
            <a:off x="411480" y="432504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Key Functions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29"/>
          <p:cNvSpPr/>
          <p:nvPr/>
        </p:nvSpPr>
        <p:spPr>
          <a:xfrm>
            <a:off x="411480" y="461772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registerProperty()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30"/>
          <p:cNvSpPr/>
          <p:nvPr/>
        </p:nvSpPr>
        <p:spPr>
          <a:xfrm>
            <a:off x="411480" y="4846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REGISTRAR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31"/>
          <p:cNvSpPr/>
          <p:nvPr/>
        </p:nvSpPr>
        <p:spPr>
          <a:xfrm>
            <a:off x="2167200" y="461772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requestTransfer()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32"/>
          <p:cNvSpPr/>
          <p:nvPr/>
        </p:nvSpPr>
        <p:spPr>
          <a:xfrm>
            <a:off x="2167200" y="4846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OWNER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33"/>
          <p:cNvSpPr/>
          <p:nvPr/>
        </p:nvSpPr>
        <p:spPr>
          <a:xfrm>
            <a:off x="3922920" y="461772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approveTransfer()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34"/>
          <p:cNvSpPr/>
          <p:nvPr/>
        </p:nvSpPr>
        <p:spPr>
          <a:xfrm>
            <a:off x="3922920" y="4846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REGISTRAR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35"/>
          <p:cNvSpPr/>
          <p:nvPr/>
        </p:nvSpPr>
        <p:spPr>
          <a:xfrm>
            <a:off x="5678280" y="461772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addRegistrar()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36"/>
          <p:cNvSpPr/>
          <p:nvPr/>
        </p:nvSpPr>
        <p:spPr>
          <a:xfrm>
            <a:off x="5678280" y="4846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AUTHORITY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37"/>
          <p:cNvSpPr/>
          <p:nvPr/>
        </p:nvSpPr>
        <p:spPr>
          <a:xfrm>
            <a:off x="7434000" y="461772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updatePropertyDocument()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8"/>
          <p:cNvSpPr/>
          <p:nvPr/>
        </p:nvSpPr>
        <p:spPr>
          <a:xfrm>
            <a:off x="7434000" y="4846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REGISTRAR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OWNERSHIP TRANSFER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Dual-Signature Trustless Escrow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FSM: δ(S, σ_Registrar) → S'   |   Γ(S_Pending, σ_Registrar, σ_Buyer) → S_Transferred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4"/>
          <p:cNvSpPr/>
          <p:nvPr/>
        </p:nvSpPr>
        <p:spPr>
          <a:xfrm>
            <a:off x="457200" y="2377440"/>
            <a:ext cx="2011320" cy="82260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457200" y="237744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059669"/>
                </a:solidFill>
                <a:latin typeface="Calibri"/>
                <a:ea typeface="Calibri"/>
              </a:rPr>
              <a:t>AVAILABLE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6"/>
          <p:cNvSpPr/>
          <p:nvPr/>
        </p:nvSpPr>
        <p:spPr>
          <a:xfrm>
            <a:off x="3566160" y="2377440"/>
            <a:ext cx="2011320" cy="82260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7"/>
          <p:cNvSpPr/>
          <p:nvPr/>
        </p:nvSpPr>
        <p:spPr>
          <a:xfrm>
            <a:off x="3566160" y="237744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d97706"/>
                </a:solidFill>
                <a:latin typeface="Calibri"/>
                <a:ea typeface="Calibri"/>
              </a:rPr>
              <a:t>PENDING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8"/>
          <p:cNvSpPr/>
          <p:nvPr/>
        </p:nvSpPr>
        <p:spPr>
          <a:xfrm>
            <a:off x="6675120" y="2377440"/>
            <a:ext cx="2011320" cy="8226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9"/>
          <p:cNvSpPr/>
          <p:nvPr/>
        </p:nvSpPr>
        <p:spPr>
          <a:xfrm>
            <a:off x="6675120" y="237744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2563eb"/>
                </a:solidFill>
                <a:latin typeface="Calibri"/>
                <a:ea typeface="Calibri"/>
              </a:rPr>
              <a:t>TRANSFERRED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0"/>
          <p:cNvSpPr/>
          <p:nvPr/>
        </p:nvSpPr>
        <p:spPr>
          <a:xfrm>
            <a:off x="2468880" y="2788920"/>
            <a:ext cx="1097280" cy="360"/>
          </a:xfrm>
          <a:prstGeom prst="line">
            <a:avLst/>
          </a:prstGeom>
          <a:ln w="1905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2468880" y="233172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requestTransfer()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Owner designates buyer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2"/>
          <p:cNvSpPr/>
          <p:nvPr/>
        </p:nvSpPr>
        <p:spPr>
          <a:xfrm>
            <a:off x="5577840" y="2788920"/>
            <a:ext cx="1097280" cy="360"/>
          </a:xfrm>
          <a:prstGeom prst="line">
            <a:avLst/>
          </a:prstGeom>
          <a:ln w="1905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3"/>
          <p:cNvSpPr/>
          <p:nvPr/>
        </p:nvSpPr>
        <p:spPr>
          <a:xfrm>
            <a:off x="5577840" y="233172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approveTransfer()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Registrar validates + executes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4"/>
          <p:cNvSpPr/>
          <p:nvPr/>
        </p:nvSpPr>
        <p:spPr>
          <a:xfrm>
            <a:off x="3566160" y="3337560"/>
            <a:ext cx="360" cy="360"/>
          </a:xfrm>
          <a:prstGeom prst="line">
            <a:avLst/>
          </a:prstGeom>
          <a:ln w="12700">
            <a:solidFill>
              <a:srgbClr val="dc262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5"/>
          <p:cNvSpPr/>
          <p:nvPr/>
        </p:nvSpPr>
        <p:spPr>
          <a:xfrm>
            <a:off x="4100760" y="325512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cancelTransfer()  —  failsafe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6"/>
          <p:cNvSpPr/>
          <p:nvPr/>
        </p:nvSpPr>
        <p:spPr>
          <a:xfrm>
            <a:off x="411480" y="3703320"/>
            <a:ext cx="1965600" cy="1234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7"/>
          <p:cNvSpPr/>
          <p:nvPr/>
        </p:nvSpPr>
        <p:spPr>
          <a:xfrm>
            <a:off x="411480" y="3703320"/>
            <a:ext cx="1965600" cy="36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8"/>
          <p:cNvSpPr/>
          <p:nvPr/>
        </p:nvSpPr>
        <p:spPr>
          <a:xfrm>
            <a:off x="484560" y="37490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alibri"/>
                <a:ea typeface="Calibri"/>
              </a:rPr>
              <a:t>SELLER (Owner)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9"/>
          <p:cNvSpPr/>
          <p:nvPr/>
        </p:nvSpPr>
        <p:spPr>
          <a:xfrm>
            <a:off x="484560" y="406908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requestTransfer(buyer_address)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cancelTransfer()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0"/>
          <p:cNvSpPr/>
          <p:nvPr/>
        </p:nvSpPr>
        <p:spPr>
          <a:xfrm>
            <a:off x="2606040" y="3703320"/>
            <a:ext cx="1965600" cy="1234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1"/>
          <p:cNvSpPr/>
          <p:nvPr/>
        </p:nvSpPr>
        <p:spPr>
          <a:xfrm>
            <a:off x="2606040" y="3703320"/>
            <a:ext cx="1965600" cy="363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22"/>
          <p:cNvSpPr/>
          <p:nvPr/>
        </p:nvSpPr>
        <p:spPr>
          <a:xfrm>
            <a:off x="2679120" y="37490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BLOCKCHAIN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3"/>
          <p:cNvSpPr/>
          <p:nvPr/>
        </p:nvSpPr>
        <p:spPr>
          <a:xfrm>
            <a:off x="2679120" y="406908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State: property.owner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State: transferRequests[id]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4"/>
          <p:cNvSpPr/>
          <p:nvPr/>
        </p:nvSpPr>
        <p:spPr>
          <a:xfrm>
            <a:off x="4800600" y="3703320"/>
            <a:ext cx="1965600" cy="1234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5"/>
          <p:cNvSpPr/>
          <p:nvPr/>
        </p:nvSpPr>
        <p:spPr>
          <a:xfrm>
            <a:off x="4800600" y="3703320"/>
            <a:ext cx="1965600" cy="36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26"/>
          <p:cNvSpPr/>
          <p:nvPr/>
        </p:nvSpPr>
        <p:spPr>
          <a:xfrm>
            <a:off x="4873680" y="37490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REGISTRAR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27"/>
          <p:cNvSpPr/>
          <p:nvPr/>
        </p:nvSpPr>
        <p:spPr>
          <a:xfrm>
            <a:off x="4873680" y="406908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approveTransfer(propertyId)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rejectTransfer()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8"/>
          <p:cNvSpPr/>
          <p:nvPr/>
        </p:nvSpPr>
        <p:spPr>
          <a:xfrm>
            <a:off x="6995160" y="3703320"/>
            <a:ext cx="1965600" cy="1234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9"/>
          <p:cNvSpPr/>
          <p:nvPr/>
        </p:nvSpPr>
        <p:spPr>
          <a:xfrm>
            <a:off x="6995160" y="3703320"/>
            <a:ext cx="1965600" cy="36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30"/>
          <p:cNvSpPr/>
          <p:nvPr/>
        </p:nvSpPr>
        <p:spPr>
          <a:xfrm>
            <a:off x="7068240" y="37490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f46e5"/>
                </a:solidFill>
                <a:latin typeface="Calibri"/>
                <a:ea typeface="Calibri"/>
              </a:rPr>
              <a:t>BUYER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31"/>
          <p:cNvSpPr/>
          <p:nvPr/>
        </p:nvSpPr>
        <p:spPr>
          <a:xfrm>
            <a:off x="7068240" y="406908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Receives ownership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after approval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GAS METRICS &amp; ECONOMIC VIABILITY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Empirically Measured Gas Consumption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All values measured on Ethereum Sepolia Testnet (live) and Hardhat (deterministic).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3" name="Chart 0"/>
          <p:cNvGraphicFramePr/>
          <p:nvPr/>
        </p:nvGraphicFramePr>
        <p:xfrm>
          <a:off x="411480" y="1371600"/>
          <a:ext cx="566892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74" name="Shape 4"/>
          <p:cNvSpPr/>
          <p:nvPr/>
        </p:nvSpPr>
        <p:spPr>
          <a:xfrm>
            <a:off x="6309360" y="1417320"/>
            <a:ext cx="2422800" cy="1005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5"/>
          <p:cNvSpPr/>
          <p:nvPr/>
        </p:nvSpPr>
        <p:spPr>
          <a:xfrm>
            <a:off x="6309360" y="1417320"/>
            <a:ext cx="2422800" cy="36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6"/>
          <p:cNvSpPr/>
          <p:nvPr/>
        </p:nvSpPr>
        <p:spPr>
          <a:xfrm>
            <a:off x="6400800" y="15271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11827"/>
                </a:solidFill>
                <a:latin typeface="Calibri"/>
                <a:ea typeface="Calibri"/>
              </a:rPr>
              <a:t>2,115,315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7"/>
          <p:cNvSpPr/>
          <p:nvPr/>
        </p:nvSpPr>
        <p:spPr>
          <a:xfrm>
            <a:off x="6400800" y="19659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Contract Deployment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8"/>
          <p:cNvSpPr/>
          <p:nvPr/>
        </p:nvSpPr>
        <p:spPr>
          <a:xfrm>
            <a:off x="6400800" y="21855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gas (Sepolia)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9"/>
          <p:cNvSpPr/>
          <p:nvPr/>
        </p:nvSpPr>
        <p:spPr>
          <a:xfrm>
            <a:off x="6309360" y="2560320"/>
            <a:ext cx="2422800" cy="1005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0"/>
          <p:cNvSpPr/>
          <p:nvPr/>
        </p:nvSpPr>
        <p:spPr>
          <a:xfrm>
            <a:off x="6309360" y="2560320"/>
            <a:ext cx="2422800" cy="36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11"/>
          <p:cNvSpPr/>
          <p:nvPr/>
        </p:nvSpPr>
        <p:spPr>
          <a:xfrm>
            <a:off x="6400800" y="26701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2563eb"/>
                </a:solidFill>
                <a:latin typeface="Calibri"/>
                <a:ea typeface="Calibri"/>
              </a:rPr>
              <a:t>244,229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2"/>
          <p:cNvSpPr/>
          <p:nvPr/>
        </p:nvSpPr>
        <p:spPr>
          <a:xfrm>
            <a:off x="6400800" y="31089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registerProperty()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3"/>
          <p:cNvSpPr/>
          <p:nvPr/>
        </p:nvSpPr>
        <p:spPr>
          <a:xfrm>
            <a:off x="6400800" y="33285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gas @ 1.505 Gwei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4"/>
          <p:cNvSpPr/>
          <p:nvPr/>
        </p:nvSpPr>
        <p:spPr>
          <a:xfrm>
            <a:off x="6309360" y="3703320"/>
            <a:ext cx="2422800" cy="1005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15"/>
          <p:cNvSpPr/>
          <p:nvPr/>
        </p:nvSpPr>
        <p:spPr>
          <a:xfrm>
            <a:off x="6309360" y="3703320"/>
            <a:ext cx="2422800" cy="36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6"/>
          <p:cNvSpPr/>
          <p:nvPr/>
        </p:nvSpPr>
        <p:spPr>
          <a:xfrm>
            <a:off x="6400800" y="3813120"/>
            <a:ext cx="2239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59669"/>
                </a:solidFill>
                <a:latin typeface="Calibri"/>
                <a:ea typeface="Calibri"/>
              </a:rPr>
              <a:t>≈ </a:t>
            </a:r>
            <a:r>
              <a:rPr b="1" lang="en-US" sz="1900" spc="-1" strike="noStrike">
                <a:solidFill>
                  <a:srgbClr val="059669"/>
                </a:solidFill>
                <a:latin typeface="Calibri"/>
                <a:ea typeface="Calibri"/>
              </a:rPr>
              <a:t>0.00037 ETH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7"/>
          <p:cNvSpPr/>
          <p:nvPr/>
        </p:nvSpPr>
        <p:spPr>
          <a:xfrm>
            <a:off x="6400800" y="42519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Transaction Fee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8"/>
          <p:cNvSpPr/>
          <p:nvPr/>
        </p:nvSpPr>
        <p:spPr>
          <a:xfrm>
            <a:off x="6400800" y="44715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98.74% gas efficiency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9"/>
          <p:cNvSpPr/>
          <p:nvPr/>
        </p:nvSpPr>
        <p:spPr>
          <a:xfrm>
            <a:off x="411480" y="4827960"/>
            <a:ext cx="8320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Hardhat simulation: registerProperty()=289,529  requestTransfer()=51,500  approveTransfer()=38,852  updateDocument()=47,735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PERFORMANCE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End-to-End Transaction Lifecycle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~15–42 seconds total vs. multi-week traditional processes.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548640" y="2308320"/>
            <a:ext cx="8046720" cy="3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5"/>
          <p:cNvSpPr/>
          <p:nvPr/>
        </p:nvSpPr>
        <p:spPr>
          <a:xfrm>
            <a:off x="457200" y="1851120"/>
            <a:ext cx="1279800" cy="914040"/>
          </a:xfrm>
          <a:prstGeom prst="rect">
            <a:avLst/>
          </a:prstGeom>
          <a:solidFill>
            <a:srgbClr val="f3f4f6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6"/>
          <p:cNvSpPr/>
          <p:nvPr/>
        </p:nvSpPr>
        <p:spPr>
          <a:xfrm>
            <a:off x="457200" y="1851120"/>
            <a:ext cx="1279800" cy="36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7"/>
          <p:cNvSpPr/>
          <p:nvPr/>
        </p:nvSpPr>
        <p:spPr>
          <a:xfrm>
            <a:off x="502920" y="1905840"/>
            <a:ext cx="1188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IPFS Upload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(Pinata API)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8"/>
          <p:cNvSpPr/>
          <p:nvPr/>
        </p:nvSpPr>
        <p:spPr>
          <a:xfrm>
            <a:off x="457200" y="2509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891b2"/>
                </a:solidFill>
                <a:latin typeface="Calibri"/>
                <a:ea typeface="Calibri"/>
              </a:rPr>
              <a:t>2–5 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9"/>
          <p:cNvSpPr/>
          <p:nvPr/>
        </p:nvSpPr>
        <p:spPr>
          <a:xfrm>
            <a:off x="1847160" y="1851120"/>
            <a:ext cx="1279800" cy="91404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0"/>
          <p:cNvSpPr/>
          <p:nvPr/>
        </p:nvSpPr>
        <p:spPr>
          <a:xfrm>
            <a:off x="1847160" y="1851120"/>
            <a:ext cx="1279800" cy="363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1"/>
          <p:cNvSpPr/>
          <p:nvPr/>
        </p:nvSpPr>
        <p:spPr>
          <a:xfrm>
            <a:off x="1892880" y="1905840"/>
            <a:ext cx="1188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MetaMask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Signature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12"/>
          <p:cNvSpPr/>
          <p:nvPr/>
        </p:nvSpPr>
        <p:spPr>
          <a:xfrm>
            <a:off x="1847160" y="2509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User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3"/>
          <p:cNvSpPr/>
          <p:nvPr/>
        </p:nvSpPr>
        <p:spPr>
          <a:xfrm>
            <a:off x="3237120" y="1851120"/>
            <a:ext cx="1279800" cy="914040"/>
          </a:xfrm>
          <a:prstGeom prst="rect">
            <a:avLst/>
          </a:prstGeom>
          <a:solidFill>
            <a:srgbClr val="f3f4f6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4"/>
          <p:cNvSpPr/>
          <p:nvPr/>
        </p:nvSpPr>
        <p:spPr>
          <a:xfrm>
            <a:off x="3237120" y="1851120"/>
            <a:ext cx="1279800" cy="36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15"/>
          <p:cNvSpPr/>
          <p:nvPr/>
        </p:nvSpPr>
        <p:spPr>
          <a:xfrm>
            <a:off x="3282840" y="1905840"/>
            <a:ext cx="1188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Broadcast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to Mempool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6"/>
          <p:cNvSpPr/>
          <p:nvPr/>
        </p:nvSpPr>
        <p:spPr>
          <a:xfrm>
            <a:off x="3237120" y="2509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563eb"/>
                </a:solidFill>
                <a:latin typeface="Calibri"/>
                <a:ea typeface="Calibri"/>
              </a:rPr>
              <a:t>&lt; 1 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17"/>
          <p:cNvSpPr/>
          <p:nvPr/>
        </p:nvSpPr>
        <p:spPr>
          <a:xfrm>
            <a:off x="4626720" y="1851120"/>
            <a:ext cx="1279800" cy="914040"/>
          </a:xfrm>
          <a:prstGeom prst="rect">
            <a:avLst/>
          </a:prstGeom>
          <a:solidFill>
            <a:srgbClr val="f3f4f6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8"/>
          <p:cNvSpPr/>
          <p:nvPr/>
        </p:nvSpPr>
        <p:spPr>
          <a:xfrm>
            <a:off x="4626720" y="1851120"/>
            <a:ext cx="1279800" cy="36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19"/>
          <p:cNvSpPr/>
          <p:nvPr/>
        </p:nvSpPr>
        <p:spPr>
          <a:xfrm>
            <a:off x="4672440" y="1905840"/>
            <a:ext cx="1188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Block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Inclusion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(1 conf)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20"/>
          <p:cNvSpPr/>
          <p:nvPr/>
        </p:nvSpPr>
        <p:spPr>
          <a:xfrm>
            <a:off x="4626720" y="2509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46e5"/>
                </a:solidFill>
                <a:latin typeface="Calibri"/>
                <a:ea typeface="Calibri"/>
              </a:rPr>
              <a:t>~ 12 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21"/>
          <p:cNvSpPr/>
          <p:nvPr/>
        </p:nvSpPr>
        <p:spPr>
          <a:xfrm>
            <a:off x="6016680" y="1851120"/>
            <a:ext cx="1279800" cy="914040"/>
          </a:xfrm>
          <a:prstGeom prst="rect">
            <a:avLst/>
          </a:prstGeom>
          <a:solidFill>
            <a:srgbClr val="f3f4f6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22"/>
          <p:cNvSpPr/>
          <p:nvPr/>
        </p:nvSpPr>
        <p:spPr>
          <a:xfrm>
            <a:off x="6016680" y="1851120"/>
            <a:ext cx="1279800" cy="36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3"/>
          <p:cNvSpPr/>
          <p:nvPr/>
        </p:nvSpPr>
        <p:spPr>
          <a:xfrm>
            <a:off x="6062400" y="1905840"/>
            <a:ext cx="1188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3-Block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Conf. Margin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24"/>
          <p:cNvSpPr/>
          <p:nvPr/>
        </p:nvSpPr>
        <p:spPr>
          <a:xfrm>
            <a:off x="6016680" y="2509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46e5"/>
                </a:solidFill>
                <a:latin typeface="Calibri"/>
                <a:ea typeface="Calibri"/>
              </a:rPr>
              <a:t>~ 36 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5"/>
          <p:cNvSpPr/>
          <p:nvPr/>
        </p:nvSpPr>
        <p:spPr>
          <a:xfrm>
            <a:off x="7406640" y="1851120"/>
            <a:ext cx="1279800" cy="914040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6"/>
          <p:cNvSpPr/>
          <p:nvPr/>
        </p:nvSpPr>
        <p:spPr>
          <a:xfrm>
            <a:off x="7406640" y="1851120"/>
            <a:ext cx="1279800" cy="36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7"/>
          <p:cNvSpPr/>
          <p:nvPr/>
        </p:nvSpPr>
        <p:spPr>
          <a:xfrm>
            <a:off x="7452360" y="1905840"/>
            <a:ext cx="1188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UI Update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(event)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28"/>
          <p:cNvSpPr/>
          <p:nvPr/>
        </p:nvSpPr>
        <p:spPr>
          <a:xfrm>
            <a:off x="7406640" y="2509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59669"/>
                </a:solidFill>
                <a:latin typeface="Calibri"/>
                <a:ea typeface="Calibri"/>
              </a:rPr>
              <a:t>&lt; 1 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9"/>
          <p:cNvSpPr/>
          <p:nvPr/>
        </p:nvSpPr>
        <p:spPr>
          <a:xfrm>
            <a:off x="411480" y="2818440"/>
            <a:ext cx="8320680" cy="6580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30"/>
          <p:cNvSpPr/>
          <p:nvPr/>
        </p:nvSpPr>
        <p:spPr>
          <a:xfrm>
            <a:off x="594360" y="2882160"/>
            <a:ext cx="5028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563eb"/>
                </a:solidFill>
                <a:latin typeface="Calibri"/>
                <a:ea typeface="Calibri"/>
              </a:rPr>
              <a:t>TOTAL (excl. user signature): ~15–42 seconds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31"/>
          <p:cNvSpPr/>
          <p:nvPr/>
        </p:nvSpPr>
        <p:spPr>
          <a:xfrm>
            <a:off x="5623560" y="295272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vs. multi-week manual process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2" name="Table 0"/>
          <p:cNvGraphicFramePr/>
          <p:nvPr/>
        </p:nvGraphicFramePr>
        <p:xfrm>
          <a:off x="411480" y="3574440"/>
          <a:ext cx="8320680" cy="1321200"/>
        </p:xfrm>
        <a:graphic>
          <a:graphicData uri="http://schemas.openxmlformats.org/drawingml/2006/table">
            <a:tbl>
              <a:tblPr/>
              <a:tblGrid>
                <a:gridCol w="2743200"/>
                <a:gridCol w="5577840"/>
              </a:tblGrid>
              <a:tr h="20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Metric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Value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20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Block Interval (Sepolia)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</a:rPr>
                        <a:t>12 seconds (empirically observed)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Deployment Block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</a:rPr>
                        <a:t>#10,725,429  |  2026-04-24T21:38:12 UTC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/>
                    </a:solidFill>
                  </a:tcPr>
                </a:tc>
              </a:tr>
              <a:tr h="20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Registration Block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</a:rPr>
                        <a:t>#10,725,509  |  2026-04-24T21:56:00 UTC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Avg Transactions/Block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</a:rPr>
                        <a:t>~128 (135 in deploy block, 121 in register block)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FUTURE ARCHITECTURE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UUPS Smart Contract Upgradeability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Separating state (permanent) from logic (swappable) — zero data migration cost.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4"/>
          <p:cNvSpPr/>
          <p:nvPr/>
        </p:nvSpPr>
        <p:spPr>
          <a:xfrm>
            <a:off x="411480" y="1371600"/>
            <a:ext cx="3931560" cy="352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502920" y="14630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Calibri"/>
                <a:ea typeface="Calibri"/>
              </a:rPr>
              <a:t>Current: Fixed Contract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6"/>
          <p:cNvSpPr/>
          <p:nvPr/>
        </p:nvSpPr>
        <p:spPr>
          <a:xfrm>
            <a:off x="594360" y="18745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✗  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No bug fixes possible after deployment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7"/>
          <p:cNvSpPr/>
          <p:nvPr/>
        </p:nvSpPr>
        <p:spPr>
          <a:xfrm>
            <a:off x="594360" y="23500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✗  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Cannot add GPS / ZKP / fractional ownership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8"/>
          <p:cNvSpPr/>
          <p:nvPr/>
        </p:nvSpPr>
        <p:spPr>
          <a:xfrm>
            <a:off x="594360" y="28256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✗  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Full data migration = expensive + risky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594360" y="33008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✗  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Single contract address — no separation of concerns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10"/>
          <p:cNvSpPr/>
          <p:nvPr/>
        </p:nvSpPr>
        <p:spPr>
          <a:xfrm>
            <a:off x="4754880" y="1371600"/>
            <a:ext cx="3977280" cy="352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4846320" y="146304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563eb"/>
                </a:solidFill>
                <a:latin typeface="Calibri"/>
                <a:ea typeface="Calibri"/>
              </a:rPr>
              <a:t>UUPS Proxy Pattern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12"/>
          <p:cNvSpPr/>
          <p:nvPr/>
        </p:nvSpPr>
        <p:spPr>
          <a:xfrm>
            <a:off x="4937760" y="18745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Proxy address permanent — all records preserved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3"/>
          <p:cNvSpPr/>
          <p:nvPr/>
        </p:nvSpPr>
        <p:spPr>
          <a:xfrm>
            <a:off x="4937760" y="23500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Logic contract swappable via upgradeProxy()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4"/>
          <p:cNvSpPr/>
          <p:nvPr/>
        </p:nvSpPr>
        <p:spPr>
          <a:xfrm>
            <a:off x="4937760" y="28256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AUTHORITY_ROLE controls upgrades (multi-sig)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4937760" y="33008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48-hour TimelockController for community audit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6"/>
          <p:cNvSpPr/>
          <p:nvPr/>
        </p:nvSpPr>
        <p:spPr>
          <a:xfrm>
            <a:off x="4937760" y="377640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Storage layout enforced by OZ upgrades-core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7"/>
          <p:cNvSpPr/>
          <p:nvPr/>
        </p:nvSpPr>
        <p:spPr>
          <a:xfrm>
            <a:off x="4343400" y="3126960"/>
            <a:ext cx="411480" cy="3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8"/>
          <p:cNvSpPr/>
          <p:nvPr/>
        </p:nvSpPr>
        <p:spPr>
          <a:xfrm>
            <a:off x="4325040" y="2971800"/>
            <a:ext cx="43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d1d5db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9"/>
          <p:cNvSpPr/>
          <p:nvPr/>
        </p:nvSpPr>
        <p:spPr>
          <a:xfrm>
            <a:off x="411480" y="4572000"/>
            <a:ext cx="8320680" cy="411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0"/>
          <p:cNvSpPr/>
          <p:nvPr/>
        </p:nvSpPr>
        <p:spPr>
          <a:xfrm>
            <a:off x="548640" y="462672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Multi-sig Authority  →  TimelockController (48h delay)  →  UUPS Proxy  →  Implementation V1 / V2 / V3…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SCALABILITY &amp; INDEXING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Event Indexing Strategy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Replacing O(n) eth_getLogs scans with O(1) GraphQL queries via The Graph Protocol.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4"/>
          <p:cNvSpPr/>
          <p:nvPr/>
        </p:nvSpPr>
        <p:spPr>
          <a:xfrm>
            <a:off x="411480" y="1371600"/>
            <a:ext cx="3748680" cy="3196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5"/>
          <p:cNvSpPr/>
          <p:nvPr/>
        </p:nvSpPr>
        <p:spPr>
          <a:xfrm>
            <a:off x="502920" y="140832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Current Architecture (Bottleneck)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6"/>
          <p:cNvSpPr/>
          <p:nvPr/>
        </p:nvSpPr>
        <p:spPr>
          <a:xfrm>
            <a:off x="388800" y="1764720"/>
            <a:ext cx="1067040" cy="615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7"/>
          <p:cNvSpPr/>
          <p:nvPr/>
        </p:nvSpPr>
        <p:spPr>
          <a:xfrm>
            <a:off x="205920" y="170532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React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Frontend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8"/>
          <p:cNvSpPr/>
          <p:nvPr/>
        </p:nvSpPr>
        <p:spPr>
          <a:xfrm>
            <a:off x="1455840" y="2092320"/>
            <a:ext cx="898560" cy="3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9"/>
          <p:cNvSpPr/>
          <p:nvPr/>
        </p:nvSpPr>
        <p:spPr>
          <a:xfrm>
            <a:off x="1703520" y="1793520"/>
            <a:ext cx="1070640" cy="586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10"/>
          <p:cNvSpPr/>
          <p:nvPr/>
        </p:nvSpPr>
        <p:spPr>
          <a:xfrm>
            <a:off x="1495440" y="172692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eth_getLogs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(O(n) scan)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1"/>
          <p:cNvSpPr/>
          <p:nvPr/>
        </p:nvSpPr>
        <p:spPr>
          <a:xfrm>
            <a:off x="2743200" y="2142360"/>
            <a:ext cx="1463040" cy="612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880" bIns="-3888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2"/>
          <p:cNvSpPr/>
          <p:nvPr/>
        </p:nvSpPr>
        <p:spPr>
          <a:xfrm>
            <a:off x="3088800" y="1788120"/>
            <a:ext cx="1051200" cy="586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13"/>
          <p:cNvSpPr/>
          <p:nvPr/>
        </p:nvSpPr>
        <p:spPr>
          <a:xfrm>
            <a:off x="2954160" y="1695960"/>
            <a:ext cx="1276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Alchemy /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RPC Node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8" name="Table 0"/>
          <p:cNvGraphicFramePr/>
          <p:nvPr/>
        </p:nvGraphicFramePr>
        <p:xfrm>
          <a:off x="411480" y="2633400"/>
          <a:ext cx="3748680" cy="137808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82296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Registry Size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Query Time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RPC Cost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5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10 properties (~100 blocks)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5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&lt; 1s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5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Negligible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5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1,000 properties (~10k blocks)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5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5–15s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5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Moderate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100,000 properties (~1M blocks)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60–300s  FAILS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Expensive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359" name="Shape 14"/>
          <p:cNvSpPr/>
          <p:nvPr/>
        </p:nvSpPr>
        <p:spPr>
          <a:xfrm>
            <a:off x="4709160" y="1371600"/>
            <a:ext cx="4023000" cy="3196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15"/>
          <p:cNvSpPr/>
          <p:nvPr/>
        </p:nvSpPr>
        <p:spPr>
          <a:xfrm>
            <a:off x="4800600" y="140832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59669"/>
                </a:solidFill>
                <a:latin typeface="Calibri"/>
                <a:ea typeface="Calibri"/>
              </a:rPr>
              <a:t>Target Architecture (The Graph Protocol)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6"/>
          <p:cNvSpPr/>
          <p:nvPr/>
        </p:nvSpPr>
        <p:spPr>
          <a:xfrm>
            <a:off x="4823280" y="1788120"/>
            <a:ext cx="1234080" cy="5968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7"/>
          <p:cNvSpPr/>
          <p:nvPr/>
        </p:nvSpPr>
        <p:spPr>
          <a:xfrm>
            <a:off x="4682880" y="172692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Ethereum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Events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8"/>
          <p:cNvSpPr/>
          <p:nvPr/>
        </p:nvSpPr>
        <p:spPr>
          <a:xfrm>
            <a:off x="6057720" y="2142360"/>
            <a:ext cx="754560" cy="648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9"/>
          <p:cNvSpPr/>
          <p:nvPr/>
        </p:nvSpPr>
        <p:spPr>
          <a:xfrm>
            <a:off x="6347880" y="1783080"/>
            <a:ext cx="1332720" cy="5968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20"/>
          <p:cNvSpPr/>
          <p:nvPr/>
        </p:nvSpPr>
        <p:spPr>
          <a:xfrm>
            <a:off x="6225120" y="172692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Graph Node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(Indexer)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21"/>
          <p:cNvSpPr/>
          <p:nvPr/>
        </p:nvSpPr>
        <p:spPr>
          <a:xfrm>
            <a:off x="7648200" y="2142360"/>
            <a:ext cx="810000" cy="648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2"/>
          <p:cNvSpPr/>
          <p:nvPr/>
        </p:nvSpPr>
        <p:spPr>
          <a:xfrm>
            <a:off x="7810920" y="1780560"/>
            <a:ext cx="1188360" cy="594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23"/>
          <p:cNvSpPr/>
          <p:nvPr/>
        </p:nvSpPr>
        <p:spPr>
          <a:xfrm>
            <a:off x="7662600" y="172116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PostgreSQL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(Indexed)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4"/>
          <p:cNvSpPr/>
          <p:nvPr/>
        </p:nvSpPr>
        <p:spPr>
          <a:xfrm>
            <a:off x="4709160" y="2514600"/>
            <a:ext cx="360" cy="34740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5"/>
          <p:cNvSpPr/>
          <p:nvPr/>
        </p:nvSpPr>
        <p:spPr>
          <a:xfrm>
            <a:off x="4709160" y="2862000"/>
            <a:ext cx="1462680" cy="7311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26"/>
          <p:cNvSpPr/>
          <p:nvPr/>
        </p:nvSpPr>
        <p:spPr>
          <a:xfrm>
            <a:off x="4709160" y="286200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React Frontend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(GraphQL)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7"/>
          <p:cNvSpPr/>
          <p:nvPr/>
        </p:nvSpPr>
        <p:spPr>
          <a:xfrm>
            <a:off x="6172200" y="3227760"/>
            <a:ext cx="1371600" cy="3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8"/>
          <p:cNvSpPr/>
          <p:nvPr/>
        </p:nvSpPr>
        <p:spPr>
          <a:xfrm>
            <a:off x="6172200" y="30265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O(1) query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9"/>
          <p:cNvSpPr/>
          <p:nvPr/>
        </p:nvSpPr>
        <p:spPr>
          <a:xfrm>
            <a:off x="7543800" y="2862000"/>
            <a:ext cx="1188360" cy="7311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30"/>
          <p:cNvSpPr/>
          <p:nvPr/>
        </p:nvSpPr>
        <p:spPr>
          <a:xfrm>
            <a:off x="7543800" y="2862000"/>
            <a:ext cx="118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GraphQL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Endpoint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31"/>
          <p:cNvSpPr/>
          <p:nvPr/>
        </p:nvSpPr>
        <p:spPr>
          <a:xfrm>
            <a:off x="4709160" y="37306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Benefits of The Graph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32"/>
          <p:cNvSpPr/>
          <p:nvPr/>
        </p:nvSpPr>
        <p:spPr>
          <a:xfrm>
            <a:off x="4709160" y="400500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O(1) instant queries — history pre-indexed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33"/>
          <p:cNvSpPr/>
          <p:nvPr/>
        </p:nvSpPr>
        <p:spPr>
          <a:xfrm>
            <a:off x="4709160" y="427932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Filter by owner, location, date range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34"/>
          <p:cNvSpPr/>
          <p:nvPr/>
        </p:nvSpPr>
        <p:spPr>
          <a:xfrm>
            <a:off x="4709160" y="455364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Free aggregate stats (gas, count, transfers)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35"/>
          <p:cNvSpPr/>
          <p:nvPr/>
        </p:nvSpPr>
        <p:spPr>
          <a:xfrm>
            <a:off x="4709160" y="48279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Used by Uniswap, Aave, ENS in production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6"/>
          <p:cNvSpPr/>
          <p:nvPr/>
        </p:nvSpPr>
        <p:spPr>
          <a:xfrm>
            <a:off x="411480" y="4023360"/>
            <a:ext cx="3748680" cy="8683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37"/>
          <p:cNvSpPr/>
          <p:nvPr/>
        </p:nvSpPr>
        <p:spPr>
          <a:xfrm>
            <a:off x="548640" y="40964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Current Optimization (interim)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38"/>
          <p:cNvSpPr/>
          <p:nvPr/>
        </p:nvSpPr>
        <p:spPr>
          <a:xfrm>
            <a:off x="548640" y="435240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DEPLOY_BLOCK = 10,725,429 constant limits eth_getLogs to scan only post-deployment blocks, minimizing RPC payload.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12"/>
          <p:cNvSpPr/>
          <p:nvPr/>
        </p:nvSpPr>
        <p:spPr>
          <a:xfrm>
            <a:off x="8595360" y="2165040"/>
            <a:ext cx="360" cy="2971800"/>
          </a:xfrm>
          <a:prstGeom prst="line">
            <a:avLst/>
          </a:prstGeom>
          <a:ln w="12700">
            <a:solidFill>
              <a:srgbClr val="d1d5d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VALIDATION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Multi-User Simulation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End-to-end RBAC test using 3 MetaMask wallets on Ethereum Sepolia.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5"/>
          <p:cNvSpPr/>
          <p:nvPr/>
        </p:nvSpPr>
        <p:spPr>
          <a:xfrm>
            <a:off x="411480" y="125208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Account 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AUTHORITY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3200400" y="125208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Account 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REGISTRAR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5989320" y="125208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Account 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LANDOWNER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10"/>
          <p:cNvSpPr/>
          <p:nvPr/>
        </p:nvSpPr>
        <p:spPr>
          <a:xfrm>
            <a:off x="460440" y="2025360"/>
            <a:ext cx="360" cy="2971800"/>
          </a:xfrm>
          <a:prstGeom prst="line">
            <a:avLst/>
          </a:prstGeom>
          <a:ln w="12700">
            <a:solidFill>
              <a:srgbClr val="d1d5d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11"/>
          <p:cNvSpPr/>
          <p:nvPr/>
        </p:nvSpPr>
        <p:spPr>
          <a:xfrm>
            <a:off x="3200400" y="2025360"/>
            <a:ext cx="360" cy="2971800"/>
          </a:xfrm>
          <a:prstGeom prst="line">
            <a:avLst/>
          </a:prstGeom>
          <a:ln w="12700">
            <a:solidFill>
              <a:srgbClr val="d1d5d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12"/>
          <p:cNvSpPr/>
          <p:nvPr/>
        </p:nvSpPr>
        <p:spPr>
          <a:xfrm>
            <a:off x="6010200" y="1988640"/>
            <a:ext cx="360" cy="2971800"/>
          </a:xfrm>
          <a:prstGeom prst="line">
            <a:avLst/>
          </a:prstGeom>
          <a:ln w="12700">
            <a:solidFill>
              <a:srgbClr val="d1d5d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13"/>
          <p:cNvSpPr/>
          <p:nvPr/>
        </p:nvSpPr>
        <p:spPr>
          <a:xfrm>
            <a:off x="487800" y="2386440"/>
            <a:ext cx="2649240" cy="360"/>
          </a:xfrm>
          <a:prstGeom prst="line">
            <a:avLst/>
          </a:prstGeom>
          <a:ln w="1524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14"/>
          <p:cNvSpPr/>
          <p:nvPr/>
        </p:nvSpPr>
        <p:spPr>
          <a:xfrm>
            <a:off x="2945520" y="224928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11827"/>
                </a:solidFill>
                <a:latin typeface="Calibri"/>
                <a:ea typeface="Calibri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15"/>
          <p:cNvSpPr/>
          <p:nvPr/>
        </p:nvSpPr>
        <p:spPr>
          <a:xfrm>
            <a:off x="573120" y="2165400"/>
            <a:ext cx="2531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11827"/>
                </a:solidFill>
                <a:latin typeface="Calibri"/>
                <a:ea typeface="Calibri"/>
              </a:rPr>
              <a:t>Grant REGISTRAR_ROLE (addRegistrar)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6"/>
          <p:cNvSpPr/>
          <p:nvPr/>
        </p:nvSpPr>
        <p:spPr>
          <a:xfrm>
            <a:off x="3200040" y="2427840"/>
            <a:ext cx="2788920" cy="360"/>
          </a:xfrm>
          <a:prstGeom prst="line">
            <a:avLst/>
          </a:prstGeom>
          <a:ln w="152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17"/>
          <p:cNvSpPr/>
          <p:nvPr/>
        </p:nvSpPr>
        <p:spPr>
          <a:xfrm>
            <a:off x="5807160" y="229140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563eb"/>
                </a:solidFill>
                <a:latin typeface="Calibri"/>
                <a:ea typeface="Calibri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18"/>
          <p:cNvSpPr/>
          <p:nvPr/>
        </p:nvSpPr>
        <p:spPr>
          <a:xfrm>
            <a:off x="3300480" y="223992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registerProperty(owner=C, location, area, CID)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9"/>
          <p:cNvSpPr/>
          <p:nvPr/>
        </p:nvSpPr>
        <p:spPr>
          <a:xfrm>
            <a:off x="6013800" y="2630160"/>
            <a:ext cx="2788920" cy="360"/>
          </a:xfrm>
          <a:prstGeom prst="line">
            <a:avLst/>
          </a:prstGeom>
          <a:ln w="1524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20"/>
          <p:cNvSpPr/>
          <p:nvPr/>
        </p:nvSpPr>
        <p:spPr>
          <a:xfrm>
            <a:off x="6210000" y="249192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21"/>
          <p:cNvSpPr/>
          <p:nvPr/>
        </p:nvSpPr>
        <p:spPr>
          <a:xfrm>
            <a:off x="6470280" y="240840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requestTransfer(buyer=A)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22"/>
          <p:cNvSpPr/>
          <p:nvPr/>
        </p:nvSpPr>
        <p:spPr>
          <a:xfrm>
            <a:off x="3214440" y="2630880"/>
            <a:ext cx="2788920" cy="360"/>
          </a:xfrm>
          <a:prstGeom prst="line">
            <a:avLst/>
          </a:prstGeom>
          <a:ln w="152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23"/>
          <p:cNvSpPr/>
          <p:nvPr/>
        </p:nvSpPr>
        <p:spPr>
          <a:xfrm>
            <a:off x="5796720" y="249300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563eb"/>
                </a:solidFill>
                <a:latin typeface="Calibri"/>
                <a:ea typeface="Calibri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24"/>
          <p:cNvSpPr/>
          <p:nvPr/>
        </p:nvSpPr>
        <p:spPr>
          <a:xfrm>
            <a:off x="3219840" y="240300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approveTransfer() → owner updated on-chain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25"/>
          <p:cNvSpPr/>
          <p:nvPr/>
        </p:nvSpPr>
        <p:spPr>
          <a:xfrm flipV="1">
            <a:off x="502920" y="2614680"/>
            <a:ext cx="2634120" cy="6480"/>
          </a:xfrm>
          <a:prstGeom prst="line">
            <a:avLst/>
          </a:prstGeom>
          <a:ln w="1524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6"/>
          <p:cNvSpPr/>
          <p:nvPr/>
        </p:nvSpPr>
        <p:spPr>
          <a:xfrm>
            <a:off x="2919960" y="247896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27"/>
          <p:cNvSpPr/>
          <p:nvPr/>
        </p:nvSpPr>
        <p:spPr>
          <a:xfrm>
            <a:off x="487800" y="239400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revokeRegistrar(B) → B's tx reverts (test)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5"/>
          <p:cNvSpPr/>
          <p:nvPr/>
        </p:nvSpPr>
        <p:spPr>
          <a:xfrm>
            <a:off x="435960" y="1240920"/>
            <a:ext cx="2605680" cy="959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101520" dir="81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6"/>
          <p:cNvSpPr/>
          <p:nvPr/>
        </p:nvSpPr>
        <p:spPr>
          <a:xfrm>
            <a:off x="435960" y="130464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Account 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7"/>
          <p:cNvSpPr/>
          <p:nvPr/>
        </p:nvSpPr>
        <p:spPr>
          <a:xfrm>
            <a:off x="1076040" y="1560960"/>
            <a:ext cx="1325520" cy="20088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8"/>
          <p:cNvSpPr/>
          <p:nvPr/>
        </p:nvSpPr>
        <p:spPr>
          <a:xfrm>
            <a:off x="1076040" y="1560960"/>
            <a:ext cx="1325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alibri"/>
              </a:rPr>
              <a:t>AUTHORITY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9"/>
          <p:cNvSpPr/>
          <p:nvPr/>
        </p:nvSpPr>
        <p:spPr>
          <a:xfrm>
            <a:off x="527400" y="18075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</a:rPr>
              <a:t>Deploys contract · Grants REGISTRAR_ROLE · Revokes roles · Final buyer in simulation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10"/>
          <p:cNvSpPr/>
          <p:nvPr/>
        </p:nvSpPr>
        <p:spPr>
          <a:xfrm>
            <a:off x="3175920" y="1218960"/>
            <a:ext cx="2605680" cy="9597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round/>
          </a:ln>
          <a:effectLst>
            <a:outerShdw algn="bl" blurRad="101520" dir="81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1"/>
          <p:cNvSpPr/>
          <p:nvPr/>
        </p:nvSpPr>
        <p:spPr>
          <a:xfrm>
            <a:off x="3270600" y="130464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Account 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12"/>
          <p:cNvSpPr/>
          <p:nvPr/>
        </p:nvSpPr>
        <p:spPr>
          <a:xfrm>
            <a:off x="3910680" y="1560960"/>
            <a:ext cx="1325520" cy="20088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13"/>
          <p:cNvSpPr/>
          <p:nvPr/>
        </p:nvSpPr>
        <p:spPr>
          <a:xfrm>
            <a:off x="3910680" y="1560960"/>
            <a:ext cx="1325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f7173"/>
                </a:solidFill>
                <a:latin typeface="Calibri"/>
              </a:rPr>
              <a:t>REGISTRAR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14"/>
          <p:cNvSpPr/>
          <p:nvPr/>
        </p:nvSpPr>
        <p:spPr>
          <a:xfrm>
            <a:off x="3362040" y="18075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</a:rPr>
              <a:t>Registers properties · Approves transfers · Submits document corrections · Role revoked in Step 7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15"/>
          <p:cNvSpPr/>
          <p:nvPr/>
        </p:nvSpPr>
        <p:spPr>
          <a:xfrm>
            <a:off x="6003360" y="1208160"/>
            <a:ext cx="2605680" cy="959760"/>
          </a:xfrm>
          <a:prstGeom prst="rect">
            <a:avLst/>
          </a:prstGeom>
          <a:solidFill>
            <a:srgbClr val="14a29a"/>
          </a:solidFill>
          <a:ln w="12700">
            <a:solidFill>
              <a:srgbClr val="14a29a"/>
            </a:solidFill>
            <a:round/>
          </a:ln>
          <a:effectLst>
            <a:outerShdw algn="bl" blurRad="101520" dir="81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16"/>
          <p:cNvSpPr/>
          <p:nvPr/>
        </p:nvSpPr>
        <p:spPr>
          <a:xfrm>
            <a:off x="6080760" y="128196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Account 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17"/>
          <p:cNvSpPr/>
          <p:nvPr/>
        </p:nvSpPr>
        <p:spPr>
          <a:xfrm>
            <a:off x="6745320" y="1560960"/>
            <a:ext cx="1325520" cy="20088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18"/>
          <p:cNvSpPr/>
          <p:nvPr/>
        </p:nvSpPr>
        <p:spPr>
          <a:xfrm>
            <a:off x="6745320" y="1560960"/>
            <a:ext cx="1325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4a29a"/>
                </a:solidFill>
                <a:latin typeface="Calibri"/>
              </a:rPr>
              <a:t>LANDOWNER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19"/>
          <p:cNvSpPr/>
          <p:nvPr/>
        </p:nvSpPr>
        <p:spPr>
          <a:xfrm>
            <a:off x="6196680" y="18075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</a:rPr>
              <a:t>Receives registered title · Initiates transfer to Account A · Tests cancel flow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20"/>
          <p:cNvSpPr/>
          <p:nvPr/>
        </p:nvSpPr>
        <p:spPr>
          <a:xfrm>
            <a:off x="457200" y="2718720"/>
            <a:ext cx="8229240" cy="273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21"/>
          <p:cNvSpPr/>
          <p:nvPr/>
        </p:nvSpPr>
        <p:spPr>
          <a:xfrm>
            <a:off x="502920" y="27187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SIMULATION STEPS — ETHEREUM SEPOLIA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22"/>
          <p:cNvSpPr/>
          <p:nvPr/>
        </p:nvSpPr>
        <p:spPr>
          <a:xfrm>
            <a:off x="457200" y="2993040"/>
            <a:ext cx="8229240" cy="292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23"/>
          <p:cNvSpPr/>
          <p:nvPr/>
        </p:nvSpPr>
        <p:spPr>
          <a:xfrm>
            <a:off x="502920" y="3038760"/>
            <a:ext cx="200880" cy="200880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24"/>
          <p:cNvSpPr/>
          <p:nvPr/>
        </p:nvSpPr>
        <p:spPr>
          <a:xfrm>
            <a:off x="502920" y="30387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25"/>
          <p:cNvSpPr/>
          <p:nvPr/>
        </p:nvSpPr>
        <p:spPr>
          <a:xfrm>
            <a:off x="749880" y="3038760"/>
            <a:ext cx="383760" cy="200880"/>
          </a:xfrm>
          <a:prstGeom prst="rect">
            <a:avLst/>
          </a:prstGeom>
          <a:solidFill>
            <a:srgbClr val="0d1b2a">
              <a:alpha val="25000"/>
            </a:srgbClr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26"/>
          <p:cNvSpPr/>
          <p:nvPr/>
        </p:nvSpPr>
        <p:spPr>
          <a:xfrm>
            <a:off x="749880" y="303876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d1b2a"/>
                </a:solidFill>
                <a:latin typeface="Calibri"/>
              </a:rPr>
              <a:t>Acct A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27"/>
          <p:cNvSpPr/>
          <p:nvPr/>
        </p:nvSpPr>
        <p:spPr>
          <a:xfrm>
            <a:off x="1188720" y="299304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</a:rPr>
              <a:t>Deploy contract + verify AUTHORITY_ROLE on Role Manager dashboard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28"/>
          <p:cNvSpPr/>
          <p:nvPr/>
        </p:nvSpPr>
        <p:spPr>
          <a:xfrm>
            <a:off x="5120640" y="299304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✅  </a:t>
            </a: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Contract live at Sepolia address. Authority confirmed.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29"/>
          <p:cNvSpPr/>
          <p:nvPr/>
        </p:nvSpPr>
        <p:spPr>
          <a:xfrm>
            <a:off x="457200" y="3285360"/>
            <a:ext cx="8229240" cy="292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30"/>
          <p:cNvSpPr/>
          <p:nvPr/>
        </p:nvSpPr>
        <p:spPr>
          <a:xfrm>
            <a:off x="502920" y="3331080"/>
            <a:ext cx="200880" cy="200880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31"/>
          <p:cNvSpPr/>
          <p:nvPr/>
        </p:nvSpPr>
        <p:spPr>
          <a:xfrm>
            <a:off x="502920" y="333108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32"/>
          <p:cNvSpPr/>
          <p:nvPr/>
        </p:nvSpPr>
        <p:spPr>
          <a:xfrm>
            <a:off x="749880" y="3331080"/>
            <a:ext cx="383760" cy="200880"/>
          </a:xfrm>
          <a:prstGeom prst="rect">
            <a:avLst/>
          </a:prstGeom>
          <a:solidFill>
            <a:srgbClr val="0d1b2a">
              <a:alpha val="25000"/>
            </a:srgbClr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33"/>
          <p:cNvSpPr/>
          <p:nvPr/>
        </p:nvSpPr>
        <p:spPr>
          <a:xfrm>
            <a:off x="749880" y="333108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d1b2a"/>
                </a:solidFill>
                <a:latin typeface="Calibri"/>
              </a:rPr>
              <a:t>Acct A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34"/>
          <p:cNvSpPr/>
          <p:nvPr/>
        </p:nvSpPr>
        <p:spPr>
          <a:xfrm>
            <a:off x="1188720" y="32853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</a:rPr>
              <a:t>Grant REGISTRAR_ROLE to Account B via addRegistrar(B_address)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35"/>
          <p:cNvSpPr/>
          <p:nvPr/>
        </p:nvSpPr>
        <p:spPr>
          <a:xfrm>
            <a:off x="5120640" y="328536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✅  </a:t>
            </a: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Account B gains REGISTRAR badge. Gas: ~50,000.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36"/>
          <p:cNvSpPr/>
          <p:nvPr/>
        </p:nvSpPr>
        <p:spPr>
          <a:xfrm>
            <a:off x="457200" y="3578040"/>
            <a:ext cx="8229240" cy="292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37"/>
          <p:cNvSpPr/>
          <p:nvPr/>
        </p:nvSpPr>
        <p:spPr>
          <a:xfrm>
            <a:off x="502920" y="3623760"/>
            <a:ext cx="200880" cy="200880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38"/>
          <p:cNvSpPr/>
          <p:nvPr/>
        </p:nvSpPr>
        <p:spPr>
          <a:xfrm>
            <a:off x="502920" y="36237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39"/>
          <p:cNvSpPr/>
          <p:nvPr/>
        </p:nvSpPr>
        <p:spPr>
          <a:xfrm>
            <a:off x="749880" y="3623760"/>
            <a:ext cx="383760" cy="200880"/>
          </a:xfrm>
          <a:prstGeom prst="rect">
            <a:avLst/>
          </a:prstGeom>
          <a:solidFill>
            <a:srgbClr val="0f7173">
              <a:alpha val="25000"/>
            </a:srgbClr>
          </a:solidFill>
          <a:ln w="12700">
            <a:solidFill>
              <a:srgbClr val="0f71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40"/>
          <p:cNvSpPr/>
          <p:nvPr/>
        </p:nvSpPr>
        <p:spPr>
          <a:xfrm>
            <a:off x="749880" y="362376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f7173"/>
                </a:solidFill>
                <a:latin typeface="Calibri"/>
              </a:rPr>
              <a:t>Acct B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41"/>
          <p:cNvSpPr/>
          <p:nvPr/>
        </p:nvSpPr>
        <p:spPr>
          <a:xfrm>
            <a:off x="1188720" y="357804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</a:rPr>
              <a:t>registerProperty(owner=C, location, area, CID) with PDF deed uploaded to IPFS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42"/>
          <p:cNvSpPr/>
          <p:nvPr/>
        </p:nvSpPr>
        <p:spPr>
          <a:xfrm>
            <a:off x="5120640" y="357804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✅  </a:t>
            </a: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Property #1 minted. CID stored on-chain. Gas: ~244,229.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43"/>
          <p:cNvSpPr/>
          <p:nvPr/>
        </p:nvSpPr>
        <p:spPr>
          <a:xfrm>
            <a:off x="457200" y="3870720"/>
            <a:ext cx="8229240" cy="292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44"/>
          <p:cNvSpPr/>
          <p:nvPr/>
        </p:nvSpPr>
        <p:spPr>
          <a:xfrm>
            <a:off x="502920" y="3916440"/>
            <a:ext cx="200880" cy="200880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45"/>
          <p:cNvSpPr/>
          <p:nvPr/>
        </p:nvSpPr>
        <p:spPr>
          <a:xfrm>
            <a:off x="502920" y="39164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46"/>
          <p:cNvSpPr/>
          <p:nvPr/>
        </p:nvSpPr>
        <p:spPr>
          <a:xfrm>
            <a:off x="749880" y="3916440"/>
            <a:ext cx="383760" cy="200880"/>
          </a:xfrm>
          <a:prstGeom prst="rect">
            <a:avLst/>
          </a:prstGeom>
          <a:solidFill>
            <a:srgbClr val="14a29a">
              <a:alpha val="25000"/>
            </a:srgbClr>
          </a:solidFill>
          <a:ln w="12700">
            <a:solidFill>
              <a:srgbClr val="14a2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47"/>
          <p:cNvSpPr/>
          <p:nvPr/>
        </p:nvSpPr>
        <p:spPr>
          <a:xfrm>
            <a:off x="749880" y="39164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14a29a"/>
                </a:solidFill>
                <a:latin typeface="Calibri"/>
              </a:rPr>
              <a:t>Acct C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48"/>
          <p:cNvSpPr/>
          <p:nvPr/>
        </p:nvSpPr>
        <p:spPr>
          <a:xfrm>
            <a:off x="1188720" y="387072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</a:rPr>
              <a:t>requestTransfer(propertyId=1, buyer=A_address)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49"/>
          <p:cNvSpPr/>
          <p:nvPr/>
        </p:nvSpPr>
        <p:spPr>
          <a:xfrm>
            <a:off x="5120640" y="387072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✅  </a:t>
            </a: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Property #1 set to PENDING. Transfer request queued. Gas: ~51,500.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50"/>
          <p:cNvSpPr/>
          <p:nvPr/>
        </p:nvSpPr>
        <p:spPr>
          <a:xfrm>
            <a:off x="457200" y="4163400"/>
            <a:ext cx="8229240" cy="292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51"/>
          <p:cNvSpPr/>
          <p:nvPr/>
        </p:nvSpPr>
        <p:spPr>
          <a:xfrm>
            <a:off x="502920" y="4209120"/>
            <a:ext cx="200880" cy="200880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52"/>
          <p:cNvSpPr/>
          <p:nvPr/>
        </p:nvSpPr>
        <p:spPr>
          <a:xfrm>
            <a:off x="502920" y="42091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53"/>
          <p:cNvSpPr/>
          <p:nvPr/>
        </p:nvSpPr>
        <p:spPr>
          <a:xfrm>
            <a:off x="749880" y="4209120"/>
            <a:ext cx="383760" cy="200880"/>
          </a:xfrm>
          <a:prstGeom prst="rect">
            <a:avLst/>
          </a:prstGeom>
          <a:solidFill>
            <a:srgbClr val="0f7173">
              <a:alpha val="25000"/>
            </a:srgbClr>
          </a:solidFill>
          <a:ln w="12700">
            <a:solidFill>
              <a:srgbClr val="0f71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54"/>
          <p:cNvSpPr/>
          <p:nvPr/>
        </p:nvSpPr>
        <p:spPr>
          <a:xfrm>
            <a:off x="749880" y="42091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f7173"/>
                </a:solidFill>
                <a:latin typeface="Calibri"/>
              </a:rPr>
              <a:t>Acct B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55"/>
          <p:cNvSpPr/>
          <p:nvPr/>
        </p:nvSpPr>
        <p:spPr>
          <a:xfrm>
            <a:off x="1188720" y="41634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</a:rPr>
              <a:t>approveTransfer(propertyId=1) — validates request and executes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56"/>
          <p:cNvSpPr/>
          <p:nvPr/>
        </p:nvSpPr>
        <p:spPr>
          <a:xfrm>
            <a:off x="5120640" y="416340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✅  </a:t>
            </a: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Ownership transferred to Account A. Gas: ~38,852.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57"/>
          <p:cNvSpPr/>
          <p:nvPr/>
        </p:nvSpPr>
        <p:spPr>
          <a:xfrm>
            <a:off x="457200" y="4456080"/>
            <a:ext cx="8229240" cy="292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58"/>
          <p:cNvSpPr/>
          <p:nvPr/>
        </p:nvSpPr>
        <p:spPr>
          <a:xfrm>
            <a:off x="502920" y="4501800"/>
            <a:ext cx="200880" cy="200880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59"/>
          <p:cNvSpPr/>
          <p:nvPr/>
        </p:nvSpPr>
        <p:spPr>
          <a:xfrm>
            <a:off x="502920" y="45018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60"/>
          <p:cNvSpPr/>
          <p:nvPr/>
        </p:nvSpPr>
        <p:spPr>
          <a:xfrm>
            <a:off x="749880" y="4501800"/>
            <a:ext cx="383760" cy="200880"/>
          </a:xfrm>
          <a:prstGeom prst="rect">
            <a:avLst/>
          </a:prstGeom>
          <a:solidFill>
            <a:srgbClr val="0d1b2a">
              <a:alpha val="25000"/>
            </a:srgbClr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61"/>
          <p:cNvSpPr/>
          <p:nvPr/>
        </p:nvSpPr>
        <p:spPr>
          <a:xfrm>
            <a:off x="749880" y="450180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d1b2a"/>
                </a:solidFill>
                <a:latin typeface="Calibri"/>
              </a:rPr>
              <a:t>Acct A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62"/>
          <p:cNvSpPr/>
          <p:nvPr/>
        </p:nvSpPr>
        <p:spPr>
          <a:xfrm>
            <a:off x="1188720" y="44560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</a:rPr>
              <a:t>requestTransfer → then cancelTransfer before Registrar approves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63"/>
          <p:cNvSpPr/>
          <p:nvPr/>
        </p:nvSpPr>
        <p:spPr>
          <a:xfrm>
            <a:off x="5120640" y="44560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✅  </a:t>
            </a: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Transfer cancelled. Property returns to AVAILABLE state. Gas: ~45,000.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64"/>
          <p:cNvSpPr/>
          <p:nvPr/>
        </p:nvSpPr>
        <p:spPr>
          <a:xfrm>
            <a:off x="457200" y="4748400"/>
            <a:ext cx="8229240" cy="292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65"/>
          <p:cNvSpPr/>
          <p:nvPr/>
        </p:nvSpPr>
        <p:spPr>
          <a:xfrm>
            <a:off x="502920" y="4794120"/>
            <a:ext cx="200880" cy="200880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66"/>
          <p:cNvSpPr/>
          <p:nvPr/>
        </p:nvSpPr>
        <p:spPr>
          <a:xfrm>
            <a:off x="502920" y="47941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</a:rPr>
              <a:t>07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67"/>
          <p:cNvSpPr/>
          <p:nvPr/>
        </p:nvSpPr>
        <p:spPr>
          <a:xfrm>
            <a:off x="749880" y="4794120"/>
            <a:ext cx="383760" cy="200880"/>
          </a:xfrm>
          <a:prstGeom prst="rect">
            <a:avLst/>
          </a:prstGeom>
          <a:solidFill>
            <a:srgbClr val="0d1b2a">
              <a:alpha val="25000"/>
            </a:srgbClr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68"/>
          <p:cNvSpPr/>
          <p:nvPr/>
        </p:nvSpPr>
        <p:spPr>
          <a:xfrm>
            <a:off x="749880" y="47941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d1b2a"/>
                </a:solidFill>
                <a:latin typeface="Calibri"/>
              </a:rPr>
              <a:t>Acct A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69"/>
          <p:cNvSpPr/>
          <p:nvPr/>
        </p:nvSpPr>
        <p:spPr>
          <a:xfrm>
            <a:off x="1188720" y="47484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</a:rPr>
              <a:t>revokeRegistrar(B_address) → Account B attempts registerProperty()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70"/>
          <p:cNvSpPr/>
          <p:nvPr/>
        </p:nvSpPr>
        <p:spPr>
          <a:xfrm>
            <a:off x="5120640" y="474840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✅  </a:t>
            </a:r>
            <a:r>
              <a:rPr b="0" lang="en-US" sz="750" spc="-1" strike="noStrike">
                <a:solidFill>
                  <a:srgbClr val="475569"/>
                </a:solidFill>
                <a:latin typeface="Calibri"/>
              </a:rPr>
              <a:t>B's tx reverts with AccessControl error. RBAC enforced at EVM level.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ext 107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USER GUIDE - DETAILED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108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Property Registration Workflow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109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Step-by-step process with MetaMask interaction and blockchain confirmation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47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110"/>
          <p:cNvSpPr/>
          <p:nvPr/>
        </p:nvSpPr>
        <p:spPr>
          <a:xfrm>
            <a:off x="411480" y="13716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563eb"/>
                </a:solidFill>
                <a:latin typeface="Calibri"/>
                <a:ea typeface="Calibri"/>
              </a:rPr>
              <a:t>UI Steps on Frontend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48"/>
          <p:cNvSpPr/>
          <p:nvPr/>
        </p:nvSpPr>
        <p:spPr>
          <a:xfrm>
            <a:off x="411480" y="1719000"/>
            <a:ext cx="4114440" cy="383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111"/>
          <p:cNvSpPr/>
          <p:nvPr/>
        </p:nvSpPr>
        <p:spPr>
          <a:xfrm>
            <a:off x="502920" y="1774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112"/>
          <p:cNvSpPr/>
          <p:nvPr/>
        </p:nvSpPr>
        <p:spPr>
          <a:xfrm>
            <a:off x="841320" y="17740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Connect Wallet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113"/>
          <p:cNvSpPr/>
          <p:nvPr/>
        </p:nvSpPr>
        <p:spPr>
          <a:xfrm>
            <a:off x="2148840" y="176472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Click Wallet button, select REGISTRAR account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114"/>
          <p:cNvSpPr/>
          <p:nvPr/>
        </p:nvSpPr>
        <p:spPr>
          <a:xfrm>
            <a:off x="3858840" y="1774080"/>
            <a:ext cx="62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Instant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49"/>
          <p:cNvSpPr/>
          <p:nvPr/>
        </p:nvSpPr>
        <p:spPr>
          <a:xfrm>
            <a:off x="411480" y="2157840"/>
            <a:ext cx="411444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115"/>
          <p:cNvSpPr/>
          <p:nvPr/>
        </p:nvSpPr>
        <p:spPr>
          <a:xfrm>
            <a:off x="502920" y="22129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116"/>
          <p:cNvSpPr/>
          <p:nvPr/>
        </p:nvSpPr>
        <p:spPr>
          <a:xfrm>
            <a:off x="841320" y="221292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Register Page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117"/>
          <p:cNvSpPr/>
          <p:nvPr/>
        </p:nvSpPr>
        <p:spPr>
          <a:xfrm>
            <a:off x="2148840" y="220356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Navigate to /register route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118"/>
          <p:cNvSpPr/>
          <p:nvPr/>
        </p:nvSpPr>
        <p:spPr>
          <a:xfrm>
            <a:off x="3858840" y="2212920"/>
            <a:ext cx="62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Instant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52"/>
          <p:cNvSpPr/>
          <p:nvPr/>
        </p:nvSpPr>
        <p:spPr>
          <a:xfrm>
            <a:off x="411480" y="2597040"/>
            <a:ext cx="4114440" cy="383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119"/>
          <p:cNvSpPr/>
          <p:nvPr/>
        </p:nvSpPr>
        <p:spPr>
          <a:xfrm>
            <a:off x="502920" y="2651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120"/>
          <p:cNvSpPr/>
          <p:nvPr/>
        </p:nvSpPr>
        <p:spPr>
          <a:xfrm>
            <a:off x="841320" y="26517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Form Fill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121"/>
          <p:cNvSpPr/>
          <p:nvPr/>
        </p:nvSpPr>
        <p:spPr>
          <a:xfrm>
            <a:off x="2148840" y="264276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Owner address, location, area, property type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122"/>
          <p:cNvSpPr/>
          <p:nvPr/>
        </p:nvSpPr>
        <p:spPr>
          <a:xfrm>
            <a:off x="3858840" y="2651760"/>
            <a:ext cx="62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Manual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54"/>
          <p:cNvSpPr/>
          <p:nvPr/>
        </p:nvSpPr>
        <p:spPr>
          <a:xfrm>
            <a:off x="411480" y="3035880"/>
            <a:ext cx="411444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123"/>
          <p:cNvSpPr/>
          <p:nvPr/>
        </p:nvSpPr>
        <p:spPr>
          <a:xfrm>
            <a:off x="502920" y="30906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124"/>
          <p:cNvSpPr/>
          <p:nvPr/>
        </p:nvSpPr>
        <p:spPr>
          <a:xfrm>
            <a:off x="841320" y="3090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Upload Deed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125"/>
          <p:cNvSpPr/>
          <p:nvPr/>
        </p:nvSpPr>
        <p:spPr>
          <a:xfrm>
            <a:off x="2148840" y="308160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Select PDF/image from computer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126"/>
          <p:cNvSpPr/>
          <p:nvPr/>
        </p:nvSpPr>
        <p:spPr>
          <a:xfrm>
            <a:off x="3858840" y="3090600"/>
            <a:ext cx="62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Optional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71"/>
          <p:cNvSpPr/>
          <p:nvPr/>
        </p:nvSpPr>
        <p:spPr>
          <a:xfrm>
            <a:off x="411480" y="3474720"/>
            <a:ext cx="4114440" cy="383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127"/>
          <p:cNvSpPr/>
          <p:nvPr/>
        </p:nvSpPr>
        <p:spPr>
          <a:xfrm>
            <a:off x="502920" y="3529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128"/>
          <p:cNvSpPr/>
          <p:nvPr/>
        </p:nvSpPr>
        <p:spPr>
          <a:xfrm>
            <a:off x="841320" y="35294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Submit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129"/>
          <p:cNvSpPr/>
          <p:nvPr/>
        </p:nvSpPr>
        <p:spPr>
          <a:xfrm>
            <a:off x="2148840" y="352044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Click Register button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130"/>
          <p:cNvSpPr/>
          <p:nvPr/>
        </p:nvSpPr>
        <p:spPr>
          <a:xfrm>
            <a:off x="3858840" y="3529440"/>
            <a:ext cx="62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Instant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72"/>
          <p:cNvSpPr/>
          <p:nvPr/>
        </p:nvSpPr>
        <p:spPr>
          <a:xfrm>
            <a:off x="411480" y="3913560"/>
            <a:ext cx="411444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131"/>
          <p:cNvSpPr/>
          <p:nvPr/>
        </p:nvSpPr>
        <p:spPr>
          <a:xfrm>
            <a:off x="502920" y="39686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alibri"/>
                <a:ea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132"/>
          <p:cNvSpPr/>
          <p:nvPr/>
        </p:nvSpPr>
        <p:spPr>
          <a:xfrm>
            <a:off x="841320" y="39686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Sign TX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133"/>
          <p:cNvSpPr/>
          <p:nvPr/>
        </p:nvSpPr>
        <p:spPr>
          <a:xfrm>
            <a:off x="2148840" y="395928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M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et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a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M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as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k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po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pu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p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ap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pe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ar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s,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cli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ck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Co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nfi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r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134"/>
          <p:cNvSpPr/>
          <p:nvPr/>
        </p:nvSpPr>
        <p:spPr>
          <a:xfrm>
            <a:off x="3858840" y="3968640"/>
            <a:ext cx="62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Manual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135"/>
          <p:cNvSpPr/>
          <p:nvPr/>
        </p:nvSpPr>
        <p:spPr>
          <a:xfrm>
            <a:off x="4754880" y="137160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B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lo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c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k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c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h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ai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n 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E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x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e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c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u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ti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o</a:t>
            </a: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73"/>
          <p:cNvSpPr/>
          <p:nvPr/>
        </p:nvSpPr>
        <p:spPr>
          <a:xfrm>
            <a:off x="4754880" y="1719000"/>
            <a:ext cx="3977280" cy="38376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136"/>
          <p:cNvSpPr/>
          <p:nvPr/>
        </p:nvSpPr>
        <p:spPr>
          <a:xfrm>
            <a:off x="4846320" y="1774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137"/>
          <p:cNvSpPr/>
          <p:nvPr/>
        </p:nvSpPr>
        <p:spPr>
          <a:xfrm>
            <a:off x="5184720" y="17740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TX Broadcast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138"/>
          <p:cNvSpPr/>
          <p:nvPr/>
        </p:nvSpPr>
        <p:spPr>
          <a:xfrm>
            <a:off x="6492240" y="176472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Et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he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rs.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js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se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nd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s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si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gn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ed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TX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to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Al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ch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e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m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y 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RP</a:t>
            </a: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139"/>
          <p:cNvSpPr/>
          <p:nvPr/>
        </p:nvSpPr>
        <p:spPr>
          <a:xfrm>
            <a:off x="8202240" y="1774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~1s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74"/>
          <p:cNvSpPr/>
          <p:nvPr/>
        </p:nvSpPr>
        <p:spPr>
          <a:xfrm>
            <a:off x="4754880" y="2157840"/>
            <a:ext cx="39772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140"/>
          <p:cNvSpPr/>
          <p:nvPr/>
        </p:nvSpPr>
        <p:spPr>
          <a:xfrm>
            <a:off x="4846320" y="22129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141"/>
          <p:cNvSpPr/>
          <p:nvPr/>
        </p:nvSpPr>
        <p:spPr>
          <a:xfrm>
            <a:off x="5184720" y="221292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Mempool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142"/>
          <p:cNvSpPr/>
          <p:nvPr/>
        </p:nvSpPr>
        <p:spPr>
          <a:xfrm>
            <a:off x="6492240" y="220356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TX enters Sepolia node mempool, pending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143"/>
          <p:cNvSpPr/>
          <p:nvPr/>
        </p:nvSpPr>
        <p:spPr>
          <a:xfrm>
            <a:off x="8202240" y="2212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1-3s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75"/>
          <p:cNvSpPr/>
          <p:nvPr/>
        </p:nvSpPr>
        <p:spPr>
          <a:xfrm>
            <a:off x="4754880" y="2597040"/>
            <a:ext cx="3977280" cy="38376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144"/>
          <p:cNvSpPr/>
          <p:nvPr/>
        </p:nvSpPr>
        <p:spPr>
          <a:xfrm>
            <a:off x="4846320" y="2651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145"/>
          <p:cNvSpPr/>
          <p:nvPr/>
        </p:nvSpPr>
        <p:spPr>
          <a:xfrm>
            <a:off x="5184720" y="26517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Miner Selection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146"/>
          <p:cNvSpPr/>
          <p:nvPr/>
        </p:nvSpPr>
        <p:spPr>
          <a:xfrm>
            <a:off x="6492240" y="264276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Block producer includes TX in next block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 147"/>
          <p:cNvSpPr/>
          <p:nvPr/>
        </p:nvSpPr>
        <p:spPr>
          <a:xfrm>
            <a:off x="8202240" y="26517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~12s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76"/>
          <p:cNvSpPr/>
          <p:nvPr/>
        </p:nvSpPr>
        <p:spPr>
          <a:xfrm>
            <a:off x="4754880" y="3035880"/>
            <a:ext cx="39772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148"/>
          <p:cNvSpPr/>
          <p:nvPr/>
        </p:nvSpPr>
        <p:spPr>
          <a:xfrm>
            <a:off x="4846320" y="30906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149"/>
          <p:cNvSpPr/>
          <p:nvPr/>
        </p:nvSpPr>
        <p:spPr>
          <a:xfrm>
            <a:off x="5184720" y="3090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Block Finalized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150"/>
          <p:cNvSpPr/>
          <p:nvPr/>
        </p:nvSpPr>
        <p:spPr>
          <a:xfrm>
            <a:off x="6492240" y="308160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Block committed, 3 additional blocks (36s)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151"/>
          <p:cNvSpPr/>
          <p:nvPr/>
        </p:nvSpPr>
        <p:spPr>
          <a:xfrm>
            <a:off x="8202240" y="3090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~36s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77"/>
          <p:cNvSpPr/>
          <p:nvPr/>
        </p:nvSpPr>
        <p:spPr>
          <a:xfrm>
            <a:off x="4754880" y="3474720"/>
            <a:ext cx="3977280" cy="38376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152"/>
          <p:cNvSpPr/>
          <p:nvPr/>
        </p:nvSpPr>
        <p:spPr>
          <a:xfrm>
            <a:off x="4846320" y="3529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153"/>
          <p:cNvSpPr/>
          <p:nvPr/>
        </p:nvSpPr>
        <p:spPr>
          <a:xfrm>
            <a:off x="5184720" y="35294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Event Emitted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154"/>
          <p:cNvSpPr/>
          <p:nvPr/>
        </p:nvSpPr>
        <p:spPr>
          <a:xfrm>
            <a:off x="6492240" y="352044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propertyId, owner, documentHash logged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155"/>
          <p:cNvSpPr/>
          <p:nvPr/>
        </p:nvSpPr>
        <p:spPr>
          <a:xfrm>
            <a:off x="8202240" y="3529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~1s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78"/>
          <p:cNvSpPr/>
          <p:nvPr/>
        </p:nvSpPr>
        <p:spPr>
          <a:xfrm>
            <a:off x="4754880" y="3913560"/>
            <a:ext cx="39772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156"/>
          <p:cNvSpPr/>
          <p:nvPr/>
        </p:nvSpPr>
        <p:spPr>
          <a:xfrm>
            <a:off x="4846320" y="39686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F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157"/>
          <p:cNvSpPr/>
          <p:nvPr/>
        </p:nvSpPr>
        <p:spPr>
          <a:xfrm>
            <a:off x="5184720" y="39686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Calibri"/>
                <a:ea typeface="Calibri"/>
              </a:rPr>
              <a:t>UI Updated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158"/>
          <p:cNvSpPr/>
          <p:nvPr/>
        </p:nvSpPr>
        <p:spPr>
          <a:xfrm>
            <a:off x="6492240" y="395928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Event listener triggers toast, state refresh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159"/>
          <p:cNvSpPr/>
          <p:nvPr/>
        </p:nvSpPr>
        <p:spPr>
          <a:xfrm>
            <a:off x="8202240" y="39686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&lt;1s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160"/>
          <p:cNvSpPr/>
          <p:nvPr/>
        </p:nvSpPr>
        <p:spPr>
          <a:xfrm>
            <a:off x="411480" y="4846320"/>
            <a:ext cx="8320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Total Time: ~2-6 minutes (incl. user signature time and 3-block confirmation for safety)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Text 161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USER GUIDE - TRANSFER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162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Ownership Transfer Workflow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163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Dual-signature escrow: Owner requests, Registrar approves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79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80"/>
          <p:cNvSpPr/>
          <p:nvPr/>
        </p:nvSpPr>
        <p:spPr>
          <a:xfrm>
            <a:off x="411480" y="1371600"/>
            <a:ext cx="2468520" cy="502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164"/>
          <p:cNvSpPr/>
          <p:nvPr/>
        </p:nvSpPr>
        <p:spPr>
          <a:xfrm>
            <a:off x="411480" y="141732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STEP 1: Owner Initiates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165"/>
          <p:cNvSpPr/>
          <p:nvPr/>
        </p:nvSpPr>
        <p:spPr>
          <a:xfrm>
            <a:off x="411480" y="160020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cbd5e1"/>
                </a:solidFill>
                <a:latin typeface="Calibri"/>
                <a:ea typeface="Calibri"/>
              </a:rPr>
              <a:t>(Property Owner)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81"/>
          <p:cNvSpPr/>
          <p:nvPr/>
        </p:nvSpPr>
        <p:spPr>
          <a:xfrm>
            <a:off x="548640" y="196596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166"/>
          <p:cNvSpPr/>
          <p:nvPr/>
        </p:nvSpPr>
        <p:spPr>
          <a:xfrm>
            <a:off x="548640" y="1965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167"/>
          <p:cNvSpPr/>
          <p:nvPr/>
        </p:nvSpPr>
        <p:spPr>
          <a:xfrm>
            <a:off x="868680" y="19659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Connect wallet (current owner)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82"/>
          <p:cNvSpPr/>
          <p:nvPr/>
        </p:nvSpPr>
        <p:spPr>
          <a:xfrm>
            <a:off x="548640" y="235908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168"/>
          <p:cNvSpPr/>
          <p:nvPr/>
        </p:nvSpPr>
        <p:spPr>
          <a:xfrm>
            <a:off x="548640" y="23590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169"/>
          <p:cNvSpPr/>
          <p:nvPr/>
        </p:nvSpPr>
        <p:spPr>
          <a:xfrm>
            <a:off x="868680" y="23590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Navigate to Transfer Ownership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83"/>
          <p:cNvSpPr/>
          <p:nvPr/>
        </p:nvSpPr>
        <p:spPr>
          <a:xfrm>
            <a:off x="548640" y="275220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170"/>
          <p:cNvSpPr/>
          <p:nvPr/>
        </p:nvSpPr>
        <p:spPr>
          <a:xfrm>
            <a:off x="548640" y="27522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171"/>
          <p:cNvSpPr/>
          <p:nvPr/>
        </p:nvSpPr>
        <p:spPr>
          <a:xfrm>
            <a:off x="868680" y="27522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Select property by ID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84"/>
          <p:cNvSpPr/>
          <p:nvPr/>
        </p:nvSpPr>
        <p:spPr>
          <a:xfrm>
            <a:off x="548640" y="314568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 172"/>
          <p:cNvSpPr/>
          <p:nvPr/>
        </p:nvSpPr>
        <p:spPr>
          <a:xfrm>
            <a:off x="548640" y="31456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173"/>
          <p:cNvSpPr/>
          <p:nvPr/>
        </p:nvSpPr>
        <p:spPr>
          <a:xfrm>
            <a:off x="868680" y="31456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Enter buyer (new owner) address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85"/>
          <p:cNvSpPr/>
          <p:nvPr/>
        </p:nvSpPr>
        <p:spPr>
          <a:xfrm>
            <a:off x="548640" y="353880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174"/>
          <p:cNvSpPr/>
          <p:nvPr/>
        </p:nvSpPr>
        <p:spPr>
          <a:xfrm>
            <a:off x="548640" y="3538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 175"/>
          <p:cNvSpPr/>
          <p:nvPr/>
        </p:nvSpPr>
        <p:spPr>
          <a:xfrm>
            <a:off x="868680" y="35388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Click 'Request Transfer'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86"/>
          <p:cNvSpPr/>
          <p:nvPr/>
        </p:nvSpPr>
        <p:spPr>
          <a:xfrm>
            <a:off x="548640" y="393192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176"/>
          <p:cNvSpPr/>
          <p:nvPr/>
        </p:nvSpPr>
        <p:spPr>
          <a:xfrm>
            <a:off x="548640" y="39319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177"/>
          <p:cNvSpPr/>
          <p:nvPr/>
        </p:nvSpPr>
        <p:spPr>
          <a:xfrm>
            <a:off x="868680" y="39319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Sign TX in MetaMask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87"/>
          <p:cNvSpPr/>
          <p:nvPr/>
        </p:nvSpPr>
        <p:spPr>
          <a:xfrm>
            <a:off x="548640" y="432504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178"/>
          <p:cNvSpPr/>
          <p:nvPr/>
        </p:nvSpPr>
        <p:spPr>
          <a:xfrm>
            <a:off x="548640" y="43250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179"/>
          <p:cNvSpPr/>
          <p:nvPr/>
        </p:nvSpPr>
        <p:spPr>
          <a:xfrm>
            <a:off x="868680" y="43250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State: property.pending = true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88"/>
          <p:cNvSpPr/>
          <p:nvPr/>
        </p:nvSpPr>
        <p:spPr>
          <a:xfrm>
            <a:off x="2880360" y="1645920"/>
            <a:ext cx="731520" cy="3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 180"/>
          <p:cNvSpPr/>
          <p:nvPr/>
        </p:nvSpPr>
        <p:spPr>
          <a:xfrm>
            <a:off x="2971800" y="15087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6b7280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89"/>
          <p:cNvSpPr/>
          <p:nvPr/>
        </p:nvSpPr>
        <p:spPr>
          <a:xfrm>
            <a:off x="3200400" y="1371600"/>
            <a:ext cx="2468520" cy="502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181"/>
          <p:cNvSpPr/>
          <p:nvPr/>
        </p:nvSpPr>
        <p:spPr>
          <a:xfrm>
            <a:off x="3200400" y="141732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STEP 2: Registrar Approves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182"/>
          <p:cNvSpPr/>
          <p:nvPr/>
        </p:nvSpPr>
        <p:spPr>
          <a:xfrm>
            <a:off x="3200400" y="160020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cbd5e1"/>
                </a:solidFill>
                <a:latin typeface="Calibri"/>
                <a:ea typeface="Calibri"/>
              </a:rPr>
              <a:t>(Registrar Authority)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90"/>
          <p:cNvSpPr/>
          <p:nvPr/>
        </p:nvSpPr>
        <p:spPr>
          <a:xfrm>
            <a:off x="3337560" y="196596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183"/>
          <p:cNvSpPr/>
          <p:nvPr/>
        </p:nvSpPr>
        <p:spPr>
          <a:xfrm>
            <a:off x="3337560" y="1965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184"/>
          <p:cNvSpPr/>
          <p:nvPr/>
        </p:nvSpPr>
        <p:spPr>
          <a:xfrm>
            <a:off x="3657600" y="19659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Switch to registrar wallet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91"/>
          <p:cNvSpPr/>
          <p:nvPr/>
        </p:nvSpPr>
        <p:spPr>
          <a:xfrm>
            <a:off x="3337560" y="235908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185"/>
          <p:cNvSpPr/>
          <p:nvPr/>
        </p:nvSpPr>
        <p:spPr>
          <a:xfrm>
            <a:off x="3337560" y="23590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186"/>
          <p:cNvSpPr/>
          <p:nvPr/>
        </p:nvSpPr>
        <p:spPr>
          <a:xfrm>
            <a:off x="3657600" y="23590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Go to Transfer Ownership page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92"/>
          <p:cNvSpPr/>
          <p:nvPr/>
        </p:nvSpPr>
        <p:spPr>
          <a:xfrm>
            <a:off x="3337560" y="275220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187"/>
          <p:cNvSpPr/>
          <p:nvPr/>
        </p:nvSpPr>
        <p:spPr>
          <a:xfrm>
            <a:off x="3337560" y="27522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188"/>
          <p:cNvSpPr/>
          <p:nvPr/>
        </p:nvSpPr>
        <p:spPr>
          <a:xfrm>
            <a:off x="3657600" y="27522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View pending transfers queue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93"/>
          <p:cNvSpPr/>
          <p:nvPr/>
        </p:nvSpPr>
        <p:spPr>
          <a:xfrm>
            <a:off x="3337560" y="314568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189"/>
          <p:cNvSpPr/>
          <p:nvPr/>
        </p:nvSpPr>
        <p:spPr>
          <a:xfrm>
            <a:off x="3337560" y="31456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190"/>
          <p:cNvSpPr/>
          <p:nvPr/>
        </p:nvSpPr>
        <p:spPr>
          <a:xfrm>
            <a:off x="3657600" y="31456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Review property details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94"/>
          <p:cNvSpPr/>
          <p:nvPr/>
        </p:nvSpPr>
        <p:spPr>
          <a:xfrm>
            <a:off x="3337560" y="353880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191"/>
          <p:cNvSpPr/>
          <p:nvPr/>
        </p:nvSpPr>
        <p:spPr>
          <a:xfrm>
            <a:off x="3337560" y="3538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192"/>
          <p:cNvSpPr/>
          <p:nvPr/>
        </p:nvSpPr>
        <p:spPr>
          <a:xfrm>
            <a:off x="3657600" y="35388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Click 'Approve Transfer'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95"/>
          <p:cNvSpPr/>
          <p:nvPr/>
        </p:nvSpPr>
        <p:spPr>
          <a:xfrm>
            <a:off x="3337560" y="393192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 193"/>
          <p:cNvSpPr/>
          <p:nvPr/>
        </p:nvSpPr>
        <p:spPr>
          <a:xfrm>
            <a:off x="3337560" y="39319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194"/>
          <p:cNvSpPr/>
          <p:nvPr/>
        </p:nvSpPr>
        <p:spPr>
          <a:xfrm>
            <a:off x="3657600" y="39319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Sign approval TX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96"/>
          <p:cNvSpPr/>
          <p:nvPr/>
        </p:nvSpPr>
        <p:spPr>
          <a:xfrm>
            <a:off x="3337560" y="432504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195"/>
          <p:cNvSpPr/>
          <p:nvPr/>
        </p:nvSpPr>
        <p:spPr>
          <a:xfrm>
            <a:off x="3337560" y="43250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196"/>
          <p:cNvSpPr/>
          <p:nvPr/>
        </p:nvSpPr>
        <p:spPr>
          <a:xfrm>
            <a:off x="3657600" y="43250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State: property.owner = buyer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97"/>
          <p:cNvSpPr/>
          <p:nvPr/>
        </p:nvSpPr>
        <p:spPr>
          <a:xfrm>
            <a:off x="5669280" y="1645920"/>
            <a:ext cx="731520" cy="3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197"/>
          <p:cNvSpPr/>
          <p:nvPr/>
        </p:nvSpPr>
        <p:spPr>
          <a:xfrm>
            <a:off x="5760720" y="15087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6b7280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98"/>
          <p:cNvSpPr/>
          <p:nvPr/>
        </p:nvSpPr>
        <p:spPr>
          <a:xfrm>
            <a:off x="5989320" y="1371600"/>
            <a:ext cx="2468520" cy="502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Text 198"/>
          <p:cNvSpPr/>
          <p:nvPr/>
        </p:nvSpPr>
        <p:spPr>
          <a:xfrm>
            <a:off x="5989320" y="141732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STEP 3: Verification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199"/>
          <p:cNvSpPr/>
          <p:nvPr/>
        </p:nvSpPr>
        <p:spPr>
          <a:xfrm>
            <a:off x="5989320" y="160020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cbd5e1"/>
                </a:solidFill>
                <a:latin typeface="Calibri"/>
                <a:ea typeface="Calibri"/>
              </a:rPr>
              <a:t>(Any User)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99"/>
          <p:cNvSpPr/>
          <p:nvPr/>
        </p:nvSpPr>
        <p:spPr>
          <a:xfrm>
            <a:off x="6126480" y="196596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200"/>
          <p:cNvSpPr/>
          <p:nvPr/>
        </p:nvSpPr>
        <p:spPr>
          <a:xfrm>
            <a:off x="6126480" y="1965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201"/>
          <p:cNvSpPr/>
          <p:nvPr/>
        </p:nvSpPr>
        <p:spPr>
          <a:xfrm>
            <a:off x="6446520" y="19659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View property in Records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100"/>
          <p:cNvSpPr/>
          <p:nvPr/>
        </p:nvSpPr>
        <p:spPr>
          <a:xfrm>
            <a:off x="6126480" y="235908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202"/>
          <p:cNvSpPr/>
          <p:nvPr/>
        </p:nvSpPr>
        <p:spPr>
          <a:xfrm>
            <a:off x="6126480" y="23590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203"/>
          <p:cNvSpPr/>
          <p:nvPr/>
        </p:nvSpPr>
        <p:spPr>
          <a:xfrm>
            <a:off x="6446520" y="23590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Owner now = former buyer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101"/>
          <p:cNvSpPr/>
          <p:nvPr/>
        </p:nvSpPr>
        <p:spPr>
          <a:xfrm>
            <a:off x="6126480" y="275220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204"/>
          <p:cNvSpPr/>
          <p:nvPr/>
        </p:nvSpPr>
        <p:spPr>
          <a:xfrm>
            <a:off x="6126480" y="27522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205"/>
          <p:cNvSpPr/>
          <p:nvPr/>
        </p:nvSpPr>
        <p:spPr>
          <a:xfrm>
            <a:off x="6446520" y="27522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Transfer history visible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102"/>
          <p:cNvSpPr/>
          <p:nvPr/>
        </p:nvSpPr>
        <p:spPr>
          <a:xfrm>
            <a:off x="6126480" y="314568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206"/>
          <p:cNvSpPr/>
          <p:nvPr/>
        </p:nvSpPr>
        <p:spPr>
          <a:xfrm>
            <a:off x="6126480" y="31456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207"/>
          <p:cNvSpPr/>
          <p:nvPr/>
        </p:nvSpPr>
        <p:spPr>
          <a:xfrm>
            <a:off x="6446520" y="31456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No revoke by either party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03"/>
          <p:cNvSpPr/>
          <p:nvPr/>
        </p:nvSpPr>
        <p:spPr>
          <a:xfrm>
            <a:off x="6126480" y="353880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208"/>
          <p:cNvSpPr/>
          <p:nvPr/>
        </p:nvSpPr>
        <p:spPr>
          <a:xfrm>
            <a:off x="6126480" y="3538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209"/>
          <p:cNvSpPr/>
          <p:nvPr/>
        </p:nvSpPr>
        <p:spPr>
          <a:xfrm>
            <a:off x="6446520" y="35388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New owner can request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04"/>
          <p:cNvSpPr/>
          <p:nvPr/>
        </p:nvSpPr>
        <p:spPr>
          <a:xfrm>
            <a:off x="6126480" y="393192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210"/>
          <p:cNvSpPr/>
          <p:nvPr/>
        </p:nvSpPr>
        <p:spPr>
          <a:xfrm>
            <a:off x="6126480" y="39319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211"/>
          <p:cNvSpPr/>
          <p:nvPr/>
        </p:nvSpPr>
        <p:spPr>
          <a:xfrm>
            <a:off x="6446520" y="39319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another transfer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105"/>
          <p:cNvSpPr/>
          <p:nvPr/>
        </p:nvSpPr>
        <p:spPr>
          <a:xfrm>
            <a:off x="6126480" y="4325040"/>
            <a:ext cx="255600" cy="25560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212"/>
          <p:cNvSpPr/>
          <p:nvPr/>
        </p:nvSpPr>
        <p:spPr>
          <a:xfrm>
            <a:off x="6126480" y="43250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213"/>
          <p:cNvSpPr/>
          <p:nvPr/>
        </p:nvSpPr>
        <p:spPr>
          <a:xfrm>
            <a:off x="6446520" y="43250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11827"/>
                </a:solidFill>
                <a:latin typeface="Calibri"/>
                <a:ea typeface="Calibri"/>
              </a:rPr>
              <a:t>Process is repeatable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214"/>
          <p:cNvSpPr/>
          <p:nvPr/>
        </p:nvSpPr>
        <p:spPr>
          <a:xfrm>
            <a:off x="411480" y="4656600"/>
            <a:ext cx="8320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Total Time: 1-2 minutes (two separate MetaMask signatures, 24-block confirmations total)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215"/>
          <p:cNvSpPr/>
          <p:nvPr/>
        </p:nvSpPr>
        <p:spPr>
          <a:xfrm>
            <a:off x="411480" y="4885200"/>
            <a:ext cx="8320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2626"/>
                </a:solidFill>
                <a:latin typeface="Calibri"/>
                <a:ea typeface="Calibri"/>
              </a:rPr>
              <a:t>Failsafe: Either party can call cancelTransfer() before approval to abort the pending request (reverts to AVAILABLE state).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Text 76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RELATED WORK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77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Comparative Analysis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78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TerraLedger vs. existing government and blockchain-based systems.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55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29" name="Table 2"/>
          <p:cNvGraphicFramePr/>
          <p:nvPr/>
        </p:nvGraphicFramePr>
        <p:xfrm>
          <a:off x="411480" y="1371600"/>
          <a:ext cx="8320680" cy="348804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  <a:gridCol w="1005840"/>
                <a:gridCol w="1097280"/>
                <a:gridCol w="192024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Feature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DILRMP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(India Gov)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Bhoomi /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Dharani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Propy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Chromaway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(Sweden)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TerraLedger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(Ours)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Immutable Records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Public Verifiability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IPFS Document Storage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Zero-Trust Proof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Wallet-less Read Access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</a:rPr>
                        <a:t>N/A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</a:rPr>
                        <a:t>N/A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Open-Source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RBAC Hierarchy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</a:rPr>
                        <a:t>On-Chain Audit Trail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30" name="Text 79"/>
          <p:cNvSpPr/>
          <p:nvPr/>
        </p:nvSpPr>
        <p:spPr>
          <a:xfrm>
            <a:off x="411480" y="495612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TerraLedger is the only system providing all 8 features simultaneously — the only one with IPFS + Zero-Trust + Wallet-less access.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Text 0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SECURITY ANALYSIS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1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Security Threat Mitigation Matrix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2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Formal security model: Γ(S_Pending, σ_Registrar, σ_Buyer) → S_Transferred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3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4"/>
          <p:cNvSpPr/>
          <p:nvPr/>
        </p:nvSpPr>
        <p:spPr>
          <a:xfrm>
            <a:off x="411480" y="1371600"/>
            <a:ext cx="8320680" cy="548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5"/>
          <p:cNvSpPr/>
          <p:nvPr/>
        </p:nvSpPr>
        <p:spPr>
          <a:xfrm>
            <a:off x="411480" y="1371600"/>
            <a:ext cx="45360" cy="548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 6"/>
          <p:cNvSpPr/>
          <p:nvPr/>
        </p:nvSpPr>
        <p:spPr>
          <a:xfrm>
            <a:off x="548640" y="14173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Unauthorized Minting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7"/>
          <p:cNvSpPr/>
          <p:nvPr/>
        </p:nvSpPr>
        <p:spPr>
          <a:xfrm>
            <a:off x="2468880" y="141732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OpenZeppelin RBAC — only whitelisted REGISTRAR_ROLE wallets can execute state-changing registration functions. Enforced at EVM level.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8"/>
          <p:cNvSpPr/>
          <p:nvPr/>
        </p:nvSpPr>
        <p:spPr>
          <a:xfrm>
            <a:off x="411480" y="1974960"/>
            <a:ext cx="8320680" cy="548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9"/>
          <p:cNvSpPr/>
          <p:nvPr/>
        </p:nvSpPr>
        <p:spPr>
          <a:xfrm>
            <a:off x="411480" y="1974960"/>
            <a:ext cx="45360" cy="548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10"/>
          <p:cNvSpPr/>
          <p:nvPr/>
        </p:nvSpPr>
        <p:spPr>
          <a:xfrm>
            <a:off x="548640" y="202068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Document Tampering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11"/>
          <p:cNvSpPr/>
          <p:nvPr/>
        </p:nvSpPr>
        <p:spPr>
          <a:xfrm>
            <a:off x="2468880" y="202068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IPFS content-addressing (CIDs). Altering a single byte of a deed changes the hash entirely, breaking the link to the immutable blockchain record.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12"/>
          <p:cNvSpPr/>
          <p:nvPr/>
        </p:nvSpPr>
        <p:spPr>
          <a:xfrm>
            <a:off x="411480" y="2578680"/>
            <a:ext cx="8320680" cy="548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13"/>
          <p:cNvSpPr/>
          <p:nvPr/>
        </p:nvSpPr>
        <p:spPr>
          <a:xfrm>
            <a:off x="411480" y="2578680"/>
            <a:ext cx="45360" cy="548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14"/>
          <p:cNvSpPr/>
          <p:nvPr/>
        </p:nvSpPr>
        <p:spPr>
          <a:xfrm>
            <a:off x="548640" y="262440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Front-Running Transfers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15"/>
          <p:cNvSpPr/>
          <p:nvPr/>
        </p:nvSpPr>
        <p:spPr>
          <a:xfrm>
            <a:off x="2468880" y="262440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Dual-signature workflow. No transfer finalizes without both the owner's requestTransfer() and the Registrar's approveTransfer() — two independent on-chain signatures.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6"/>
          <p:cNvSpPr/>
          <p:nvPr/>
        </p:nvSpPr>
        <p:spPr>
          <a:xfrm>
            <a:off x="411480" y="3182040"/>
            <a:ext cx="8320680" cy="548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7"/>
          <p:cNvSpPr/>
          <p:nvPr/>
        </p:nvSpPr>
        <p:spPr>
          <a:xfrm>
            <a:off x="411480" y="3182040"/>
            <a:ext cx="45360" cy="548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18"/>
          <p:cNvSpPr/>
          <p:nvPr/>
        </p:nvSpPr>
        <p:spPr>
          <a:xfrm>
            <a:off x="548640" y="322776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Double-Spending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19"/>
          <p:cNvSpPr/>
          <p:nvPr/>
        </p:nvSpPr>
        <p:spPr>
          <a:xfrm>
            <a:off x="2468880" y="322776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Ethereum PoS consensus (Sepolia). Blockchain enforces single-state truth — no duplicate ownership is possible across the distributed ledger.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20"/>
          <p:cNvSpPr/>
          <p:nvPr/>
        </p:nvSpPr>
        <p:spPr>
          <a:xfrm>
            <a:off x="411480" y="3785760"/>
            <a:ext cx="8320680" cy="548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21"/>
          <p:cNvSpPr/>
          <p:nvPr/>
        </p:nvSpPr>
        <p:spPr>
          <a:xfrm>
            <a:off x="411480" y="3785760"/>
            <a:ext cx="45360" cy="548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 22"/>
          <p:cNvSpPr/>
          <p:nvPr/>
        </p:nvSpPr>
        <p:spPr>
          <a:xfrm>
            <a:off x="548640" y="383148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Wrong Network Interaction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23"/>
          <p:cNvSpPr/>
          <p:nvPr/>
        </p:nvSpPr>
        <p:spPr>
          <a:xfrm>
            <a:off x="2468880" y="383148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NetworkGuard.jsx + useNetwork.js hooks listen to chainChanged events and render a full-screen block overlay if user is on Mainnet or any non-Sepolia chain.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4"/>
          <p:cNvSpPr/>
          <p:nvPr/>
        </p:nvSpPr>
        <p:spPr>
          <a:xfrm>
            <a:off x="411480" y="4389120"/>
            <a:ext cx="8320680" cy="548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25"/>
          <p:cNvSpPr/>
          <p:nvPr/>
        </p:nvSpPr>
        <p:spPr>
          <a:xfrm>
            <a:off x="411480" y="4389120"/>
            <a:ext cx="45360" cy="548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26"/>
          <p:cNvSpPr/>
          <p:nvPr/>
        </p:nvSpPr>
        <p:spPr>
          <a:xfrm>
            <a:off x="548640" y="443484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11827"/>
                </a:solidFill>
                <a:latin typeface="Calibri"/>
                <a:ea typeface="Calibri"/>
              </a:rPr>
              <a:t>Unauthorized Upgrade (Future)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27"/>
          <p:cNvSpPr/>
          <p:nvPr/>
        </p:nvSpPr>
        <p:spPr>
          <a:xfrm>
            <a:off x="2468880" y="443484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UUPS pattern: upgrades restricted to AUTHORITY_ROLE (Gnosis Safe multi-sig) with a 48-hour TimelockController delay for community audit.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Text 233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REFERENCES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 234"/>
          <p:cNvSpPr/>
          <p:nvPr/>
        </p:nvSpPr>
        <p:spPr>
          <a:xfrm>
            <a:off x="411480" y="347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Key References &amp; Data Sources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 235"/>
          <p:cNvSpPr/>
          <p:nvPr/>
        </p:nvSpPr>
        <p:spPr>
          <a:xfrm>
            <a:off x="411480" y="896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Academic, governmental, and technical standards cited throughout research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115"/>
          <p:cNvSpPr/>
          <p:nvPr/>
        </p:nvSpPr>
        <p:spPr>
          <a:xfrm>
            <a:off x="411480" y="118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236"/>
          <p:cNvSpPr/>
          <p:nvPr/>
        </p:nvSpPr>
        <p:spPr>
          <a:xfrm>
            <a:off x="502920" y="119160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[1]  Govt. of India — "Digital India Land Records Modernization Programme (DILRMP)" (Dept. of Land Resources, 2024)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 237"/>
          <p:cNvSpPr/>
          <p:nvPr/>
        </p:nvSpPr>
        <p:spPr>
          <a:xfrm>
            <a:off x="502920" y="148428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[2]  A. Barua — "TerraLedger Technical Specification" (Internal Research Data, Gauhati University, 2026)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 238"/>
          <p:cNvSpPr/>
          <p:nvPr/>
        </p:nvSpPr>
        <p:spPr>
          <a:xfrm>
            <a:off x="502920" y="177696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[3]  J. Benet — "IPFS - Content Addressed, Versioned, P2P File System" (arXiv:1407.3561, 2014)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239"/>
          <p:cNvSpPr/>
          <p:nvPr/>
        </p:nvSpPr>
        <p:spPr>
          <a:xfrm>
            <a:off x="502920" y="206928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[4]  S. Nakamoto — "Bitcoin: A Peer-to-Peer Electronic Cash System" (2008)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240"/>
          <p:cNvSpPr/>
          <p:nvPr/>
        </p:nvSpPr>
        <p:spPr>
          <a:xfrm>
            <a:off x="502920" y="236196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[5]  G. Wood — "Ethereum: A Secure Decentralised Generalised Transaction Ledger" (Ethereum Project, 2014)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 241"/>
          <p:cNvSpPr/>
          <p:nvPr/>
        </p:nvSpPr>
        <p:spPr>
          <a:xfrm>
            <a:off x="502920" y="265464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[6]  Govt. of Assam — "Mission Basundhara: Land Reforms in Assam" (Revenue Dept., 2023)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 242"/>
          <p:cNvSpPr/>
          <p:nvPr/>
        </p:nvSpPr>
        <p:spPr>
          <a:xfrm>
            <a:off x="502920" y="294732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[7]  OpenZeppelin — "Access Control Documentation" (docs.openzeppelin.com/contracts/4.x/access-control, 2024)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 243"/>
          <p:cNvSpPr/>
          <p:nvPr/>
        </p:nvSpPr>
        <p:spPr>
          <a:xfrm>
            <a:off x="502920" y="324000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[8]  Ministry of Law and Justice — "The Information Technology Act, 2000" (Govt. of India, 2000)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 244"/>
          <p:cNvSpPr/>
          <p:nvPr/>
        </p:nvSpPr>
        <p:spPr>
          <a:xfrm>
            <a:off x="502920" y="353232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[9]  M. Swan — "Blockchain: Blueprint for a New Economy" (O'Reilly Media, Inc., 2015)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 245"/>
          <p:cNvSpPr/>
          <p:nvPr/>
        </p:nvSpPr>
        <p:spPr>
          <a:xfrm>
            <a:off x="502920" y="382500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[10]  H. Ritzenhoff — "Blockchain for Land Registry in Developing Countries" (World Bank Research Reports, 2022)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 246"/>
          <p:cNvSpPr/>
          <p:nvPr/>
        </p:nvSpPr>
        <p:spPr>
          <a:xfrm>
            <a:off x="502920" y="411768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[11]  Vitalik Buterin — "A Roadmap for Ethereum's Future (The Surge)" (Ethereum Foundation, 2023)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247"/>
          <p:cNvSpPr/>
          <p:nvPr/>
        </p:nvSpPr>
        <p:spPr>
          <a:xfrm>
            <a:off x="502920" y="437436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b7280"/>
                </a:solidFill>
                <a:latin typeface="Calibri"/>
                <a:ea typeface="Calibri"/>
              </a:rPr>
              <a:t>[12]  S. S. Kushwaha et al. — "Ethereum Smart Contract Analysis and Gas Optimization" (IEEE Access, vol. 10, 2022)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16"/>
          <p:cNvSpPr/>
          <p:nvPr/>
        </p:nvSpPr>
        <p:spPr>
          <a:xfrm>
            <a:off x="411480" y="4754880"/>
            <a:ext cx="8320680" cy="2556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 248"/>
          <p:cNvSpPr/>
          <p:nvPr/>
        </p:nvSpPr>
        <p:spPr>
          <a:xfrm>
            <a:off x="548640" y="480060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563eb"/>
                </a:solidFill>
                <a:latin typeface="Calibri"/>
                <a:ea typeface="Calibri"/>
              </a:rPr>
              <a:t>Repository: github.com/anilabhbarua/TerraLedger 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Text 249"/>
          <p:cNvSpPr/>
          <p:nvPr/>
        </p:nvSpPr>
        <p:spPr>
          <a:xfrm>
            <a:off x="411480" y="13716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9" strike="noStrike">
                <a:solidFill>
                  <a:srgbClr val="6b7280"/>
                </a:solidFill>
                <a:latin typeface="Calibri"/>
                <a:ea typeface="Calibri"/>
              </a:rPr>
              <a:t>RESEARCH OUTCOMES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250"/>
          <p:cNvSpPr/>
          <p:nvPr/>
        </p:nvSpPr>
        <p:spPr>
          <a:xfrm>
            <a:off x="375480" y="239400"/>
            <a:ext cx="8320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  <a:ea typeface="Calibri"/>
              </a:rPr>
              <a:t>Key Findings &amp; Research Contributions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251"/>
          <p:cNvSpPr/>
          <p:nvPr/>
        </p:nvSpPr>
        <p:spPr>
          <a:xfrm>
            <a:off x="411480" y="7520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Quantified improvements over existing systems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117"/>
          <p:cNvSpPr/>
          <p:nvPr/>
        </p:nvSpPr>
        <p:spPr>
          <a:xfrm>
            <a:off x="411480" y="1008720"/>
            <a:ext cx="83210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119"/>
          <p:cNvSpPr/>
          <p:nvPr/>
        </p:nvSpPr>
        <p:spPr>
          <a:xfrm>
            <a:off x="411480" y="1083600"/>
            <a:ext cx="45360" cy="1279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 252"/>
          <p:cNvSpPr/>
          <p:nvPr/>
        </p:nvSpPr>
        <p:spPr>
          <a:xfrm>
            <a:off x="450360" y="1084680"/>
            <a:ext cx="7954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563eb"/>
                </a:solidFill>
                <a:latin typeface="Calibri"/>
                <a:ea typeface="Calibri"/>
              </a:rPr>
              <a:t>Technical Innovation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253"/>
          <p:cNvSpPr/>
          <p:nvPr/>
        </p:nvSpPr>
        <p:spPr>
          <a:xfrm>
            <a:off x="587520" y="139572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Zero-Trust Verification: Pr(forgery) ~ 1 in 2^256 (collision-resistant SHA-256)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254"/>
          <p:cNvSpPr/>
          <p:nvPr/>
        </p:nvSpPr>
        <p:spPr>
          <a:xfrm>
            <a:off x="587520" y="163332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Dual-Signature Escrow: Γ(S_Pending, σ_Registrar, σ_Buyer) → S_Transferred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 255"/>
          <p:cNvSpPr/>
          <p:nvPr/>
        </p:nvSpPr>
        <p:spPr>
          <a:xfrm>
            <a:off x="587520" y="187128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IPFS Content Addressing: Altering 1 byte changes CID, breaking on-chain link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 256"/>
          <p:cNvSpPr/>
          <p:nvPr/>
        </p:nvSpPr>
        <p:spPr>
          <a:xfrm>
            <a:off x="587520" y="210888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UUPS Upgradeability: Logic swappable without migrating 15+ years of state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121"/>
          <p:cNvSpPr/>
          <p:nvPr/>
        </p:nvSpPr>
        <p:spPr>
          <a:xfrm>
            <a:off x="411480" y="2455200"/>
            <a:ext cx="45360" cy="1279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Text 257"/>
          <p:cNvSpPr/>
          <p:nvPr/>
        </p:nvSpPr>
        <p:spPr>
          <a:xfrm>
            <a:off x="450360" y="2456280"/>
            <a:ext cx="7954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Economic Feasibility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258"/>
          <p:cNvSpPr/>
          <p:nvPr/>
        </p:nvSpPr>
        <p:spPr>
          <a:xfrm>
            <a:off x="587520" y="276732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Registration Cost: 244,229 gas @ 1.505 Gwei = 0.00037 ETH (~Rs. 3-5)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259"/>
          <p:cNvSpPr/>
          <p:nvPr/>
        </p:nvSpPr>
        <p:spPr>
          <a:xfrm>
            <a:off x="587520" y="300492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Deployment Cost: 2,115,315 gas (one-time, paid by authority)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260"/>
          <p:cNvSpPr/>
          <p:nvPr/>
        </p:nvSpPr>
        <p:spPr>
          <a:xfrm>
            <a:off x="587520" y="324288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vs. Traditional Admin Fee: Rs. 500-2000 per registration (50-100x more expensive)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261"/>
          <p:cNvSpPr/>
          <p:nvPr/>
        </p:nvSpPr>
        <p:spPr>
          <a:xfrm>
            <a:off x="587520" y="348048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Layer 2 Migration: Polygon gas costs expected &lt;0.00001 ETH per TX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23"/>
          <p:cNvSpPr/>
          <p:nvPr/>
        </p:nvSpPr>
        <p:spPr>
          <a:xfrm>
            <a:off x="411480" y="3826800"/>
            <a:ext cx="45360" cy="12798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262"/>
          <p:cNvSpPr/>
          <p:nvPr/>
        </p:nvSpPr>
        <p:spPr>
          <a:xfrm>
            <a:off x="450360" y="3827880"/>
            <a:ext cx="7954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f46e5"/>
                </a:solidFill>
                <a:latin typeface="Calibri"/>
                <a:ea typeface="Calibri"/>
              </a:rPr>
              <a:t>Operational Efficiency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 263"/>
          <p:cNvSpPr/>
          <p:nvPr/>
        </p:nvSpPr>
        <p:spPr>
          <a:xfrm>
            <a:off x="587520" y="413892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Registration Lifecycle: ~42 seconds (vs. multi-week manual process)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 264"/>
          <p:cNvSpPr/>
          <p:nvPr/>
        </p:nvSpPr>
        <p:spPr>
          <a:xfrm>
            <a:off x="587520" y="437652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IPFS Retrieval: 2-5 seconds for deed downloads from global CDN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265"/>
          <p:cNvSpPr/>
          <p:nvPr/>
        </p:nvSpPr>
        <p:spPr>
          <a:xfrm>
            <a:off x="587520" y="461448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Block Confirmation: 12-second average block interval on Sepolia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 266"/>
          <p:cNvSpPr/>
          <p:nvPr/>
        </p:nvSpPr>
        <p:spPr>
          <a:xfrm>
            <a:off x="587520" y="4852080"/>
            <a:ext cx="781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Wallet-less Access: Public citizen can verify any record without MetaMask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Shape 124"/>
          <p:cNvSpPr/>
          <p:nvPr/>
        </p:nvSpPr>
        <p:spPr>
          <a:xfrm>
            <a:off x="0" y="0"/>
            <a:ext cx="45360" cy="5143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267"/>
          <p:cNvSpPr/>
          <p:nvPr/>
        </p:nvSpPr>
        <p:spPr>
          <a:xfrm>
            <a:off x="502920" y="228600"/>
            <a:ext cx="832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Impact &amp; Scalability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Shape 125"/>
          <p:cNvSpPr/>
          <p:nvPr/>
        </p:nvSpPr>
        <p:spPr>
          <a:xfrm>
            <a:off x="502920" y="868680"/>
            <a:ext cx="8320680" cy="59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Shape 126"/>
          <p:cNvSpPr/>
          <p:nvPr/>
        </p:nvSpPr>
        <p:spPr>
          <a:xfrm>
            <a:off x="502920" y="868680"/>
            <a:ext cx="45360" cy="594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268"/>
          <p:cNvSpPr/>
          <p:nvPr/>
        </p:nvSpPr>
        <p:spPr>
          <a:xfrm>
            <a:off x="685800" y="9417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Eliminates Trust Barriers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Text 269"/>
          <p:cNvSpPr/>
          <p:nvPr/>
        </p:nvSpPr>
        <p:spPr>
          <a:xfrm>
            <a:off x="3520440" y="923400"/>
            <a:ext cx="52117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Zero-Trust verification removes need to trust government, registrars, or any intermediary. Mathematics replaces bureaucracy.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Shape 127"/>
          <p:cNvSpPr/>
          <p:nvPr/>
        </p:nvSpPr>
        <p:spPr>
          <a:xfrm>
            <a:off x="502920" y="1527120"/>
            <a:ext cx="8320680" cy="59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Shape 128"/>
          <p:cNvSpPr/>
          <p:nvPr/>
        </p:nvSpPr>
        <p:spPr>
          <a:xfrm>
            <a:off x="502920" y="1527120"/>
            <a:ext cx="45360" cy="594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270"/>
          <p:cNvSpPr/>
          <p:nvPr/>
        </p:nvSpPr>
        <p:spPr>
          <a:xfrm>
            <a:off x="685800" y="16002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Prevents Document Fraud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Text 271"/>
          <p:cNvSpPr/>
          <p:nvPr/>
        </p:nvSpPr>
        <p:spPr>
          <a:xfrm>
            <a:off x="3520440" y="1581840"/>
            <a:ext cx="52117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IPFS CID + SHA-256 makes deed forgery computationally infeasible. Altering a single pixel breaks the on-chain hash link.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Shape 129"/>
          <p:cNvSpPr/>
          <p:nvPr/>
        </p:nvSpPr>
        <p:spPr>
          <a:xfrm>
            <a:off x="502920" y="2185560"/>
            <a:ext cx="8320680" cy="59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Shape 130"/>
          <p:cNvSpPr/>
          <p:nvPr/>
        </p:nvSpPr>
        <p:spPr>
          <a:xfrm>
            <a:off x="502920" y="2185560"/>
            <a:ext cx="45360" cy="594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 272"/>
          <p:cNvSpPr/>
          <p:nvPr/>
        </p:nvSpPr>
        <p:spPr>
          <a:xfrm>
            <a:off x="685800" y="22586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Enables Micro-Transactions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Text 273"/>
          <p:cNvSpPr/>
          <p:nvPr/>
        </p:nvSpPr>
        <p:spPr>
          <a:xfrm>
            <a:off x="3520440" y="2240280"/>
            <a:ext cx="52117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Layer 2 deployment (Polygon) reduces cost from 0.00037 ETH to &lt;0.00001 ETH, making registration affordable for rural/low-income citizens.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Shape 131"/>
          <p:cNvSpPr/>
          <p:nvPr/>
        </p:nvSpPr>
        <p:spPr>
          <a:xfrm>
            <a:off x="502920" y="2843640"/>
            <a:ext cx="8320680" cy="59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Shape 132"/>
          <p:cNvSpPr/>
          <p:nvPr/>
        </p:nvSpPr>
        <p:spPr>
          <a:xfrm>
            <a:off x="502920" y="2843640"/>
            <a:ext cx="45360" cy="594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Text 274"/>
          <p:cNvSpPr/>
          <p:nvPr/>
        </p:nvSpPr>
        <p:spPr>
          <a:xfrm>
            <a:off x="685800" y="29170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Scales to Millions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Text 275"/>
          <p:cNvSpPr/>
          <p:nvPr/>
        </p:nvSpPr>
        <p:spPr>
          <a:xfrm>
            <a:off x="3520440" y="2898720"/>
            <a:ext cx="52117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The Graph indexing transforms O(n) queries to O(1). Can support 100M+ properties with instant historical lookups.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Shape 133"/>
          <p:cNvSpPr/>
          <p:nvPr/>
        </p:nvSpPr>
        <p:spPr>
          <a:xfrm>
            <a:off x="502920" y="3502080"/>
            <a:ext cx="8320680" cy="59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Shape 134"/>
          <p:cNvSpPr/>
          <p:nvPr/>
        </p:nvSpPr>
        <p:spPr>
          <a:xfrm>
            <a:off x="502920" y="3502080"/>
            <a:ext cx="45360" cy="59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Text 276"/>
          <p:cNvSpPr/>
          <p:nvPr/>
        </p:nvSpPr>
        <p:spPr>
          <a:xfrm>
            <a:off x="685800" y="35751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Integrates with Legal System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Text 277"/>
          <p:cNvSpPr/>
          <p:nvPr/>
        </p:nvSpPr>
        <p:spPr>
          <a:xfrm>
            <a:off x="3520440" y="3557160"/>
            <a:ext cx="52117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Blockchain records integrated into Information Technology Act (2000) framework grant digital titles full evidentiary weight in Indian courts.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Shape 135"/>
          <p:cNvSpPr/>
          <p:nvPr/>
        </p:nvSpPr>
        <p:spPr>
          <a:xfrm>
            <a:off x="502920" y="4160520"/>
            <a:ext cx="8320680" cy="59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Shape 136"/>
          <p:cNvSpPr/>
          <p:nvPr/>
        </p:nvSpPr>
        <p:spPr>
          <a:xfrm>
            <a:off x="502920" y="4160520"/>
            <a:ext cx="45360" cy="594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3" name="Text 278"/>
          <p:cNvSpPr/>
          <p:nvPr/>
        </p:nvSpPr>
        <p:spPr>
          <a:xfrm>
            <a:off x="685800" y="42336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Supports National Deployment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 279"/>
          <p:cNvSpPr/>
          <p:nvPr/>
        </p:nvSpPr>
        <p:spPr>
          <a:xfrm>
            <a:off x="3520440" y="4215240"/>
            <a:ext cx="52117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Tested on Ethereum Sepolia. Ready for mainnet or state-level rollout with UUPS upgrades and Gnosis Safe governance.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Shape 137"/>
          <p:cNvSpPr/>
          <p:nvPr/>
        </p:nvSpPr>
        <p:spPr>
          <a:xfrm>
            <a:off x="502920" y="4892040"/>
            <a:ext cx="8320680" cy="182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Text 280"/>
          <p:cNvSpPr/>
          <p:nvPr/>
        </p:nvSpPr>
        <p:spPr>
          <a:xfrm>
            <a:off x="640080" y="4910400"/>
            <a:ext cx="80463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TerraLedger transforms land governance from presumptive (trust-based) to conclusive (cryptographically secured)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0" y="0"/>
            <a:ext cx="45360" cy="5143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1"/>
          <p:cNvSpPr/>
          <p:nvPr/>
        </p:nvSpPr>
        <p:spPr>
          <a:xfrm>
            <a:off x="502920" y="22860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Conclusion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Shape 2"/>
          <p:cNvSpPr/>
          <p:nvPr/>
        </p:nvSpPr>
        <p:spPr>
          <a:xfrm>
            <a:off x="502920" y="868680"/>
            <a:ext cx="475200" cy="475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Text 3"/>
          <p:cNvSpPr/>
          <p:nvPr/>
        </p:nvSpPr>
        <p:spPr>
          <a:xfrm>
            <a:off x="502920" y="8686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Text 4"/>
          <p:cNvSpPr/>
          <p:nvPr/>
        </p:nvSpPr>
        <p:spPr>
          <a:xfrm>
            <a:off x="1097280" y="868680"/>
            <a:ext cx="4205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TerraLedger shifts land titles from presumptive (trust-based) to conclusive (cryptographically secured) — a fundamental legal upgrade enabled by a hybrid Ethereum + IPFS architecture.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Shape 5"/>
          <p:cNvSpPr/>
          <p:nvPr/>
        </p:nvSpPr>
        <p:spPr>
          <a:xfrm>
            <a:off x="502920" y="1856160"/>
            <a:ext cx="475200" cy="475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Text 6"/>
          <p:cNvSpPr/>
          <p:nvPr/>
        </p:nvSpPr>
        <p:spPr>
          <a:xfrm>
            <a:off x="502920" y="18561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Text 7"/>
          <p:cNvSpPr/>
          <p:nvPr/>
        </p:nvSpPr>
        <p:spPr>
          <a:xfrm>
            <a:off x="1097280" y="1856160"/>
            <a:ext cx="4205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Zero-Trust verification (SHA-256 + IPFS CID) allows any citizen to independently audit any deed without trusting any authority, government, or intermediary.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Shape 8"/>
          <p:cNvSpPr/>
          <p:nvPr/>
        </p:nvSpPr>
        <p:spPr>
          <a:xfrm>
            <a:off x="502920" y="2843640"/>
            <a:ext cx="475200" cy="475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Text 9"/>
          <p:cNvSpPr/>
          <p:nvPr/>
        </p:nvSpPr>
        <p:spPr>
          <a:xfrm>
            <a:off x="502920" y="28436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Text 10"/>
          <p:cNvSpPr/>
          <p:nvPr/>
        </p:nvSpPr>
        <p:spPr>
          <a:xfrm>
            <a:off x="1097280" y="2843640"/>
            <a:ext cx="4205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Economic feasibility demonstrated: full registration at ~0.00037 ETH (244,229 gas at 1.505 Gwei) — a fraction of traditional administrative fees.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Shape 11"/>
          <p:cNvSpPr/>
          <p:nvPr/>
        </p:nvSpPr>
        <p:spPr>
          <a:xfrm>
            <a:off x="502920" y="3831480"/>
            <a:ext cx="475200" cy="475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 12"/>
          <p:cNvSpPr/>
          <p:nvPr/>
        </p:nvSpPr>
        <p:spPr>
          <a:xfrm>
            <a:off x="502920" y="38314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Text 13"/>
          <p:cNvSpPr/>
          <p:nvPr/>
        </p:nvSpPr>
        <p:spPr>
          <a:xfrm>
            <a:off x="1097280" y="3831480"/>
            <a:ext cx="4205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UUPS upgradeability, The Graph indexing, and a Dynamic RPC fallback layer position TerraLedger as a production-ready, scalable land governance framework.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Text 14"/>
          <p:cNvSpPr/>
          <p:nvPr/>
        </p:nvSpPr>
        <p:spPr>
          <a:xfrm>
            <a:off x="5760720" y="22860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Future Roadmap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Shape 15"/>
          <p:cNvSpPr/>
          <p:nvPr/>
        </p:nvSpPr>
        <p:spPr>
          <a:xfrm>
            <a:off x="5760720" y="643680"/>
            <a:ext cx="3200040" cy="749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16"/>
          <p:cNvSpPr/>
          <p:nvPr/>
        </p:nvSpPr>
        <p:spPr>
          <a:xfrm>
            <a:off x="5897880" y="6984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563eb"/>
                </a:solidFill>
                <a:latin typeface="Calibri"/>
                <a:ea typeface="Calibri"/>
              </a:rPr>
              <a:t>IoT GPS Boundary Markers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17"/>
          <p:cNvSpPr/>
          <p:nvPr/>
        </p:nvSpPr>
        <p:spPr>
          <a:xfrm>
            <a:off x="5897880" y="10094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Real-time coordinates → smart contract, preventing illegal encroachment.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Shape 18"/>
          <p:cNvSpPr/>
          <p:nvPr/>
        </p:nvSpPr>
        <p:spPr>
          <a:xfrm>
            <a:off x="5760720" y="1485000"/>
            <a:ext cx="3200040" cy="749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19"/>
          <p:cNvSpPr/>
          <p:nvPr/>
        </p:nvSpPr>
        <p:spPr>
          <a:xfrm>
            <a:off x="5897880" y="15397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563eb"/>
                </a:solidFill>
                <a:latin typeface="Calibri"/>
                <a:ea typeface="Calibri"/>
              </a:rPr>
              <a:t>Zero-Knowledge Proofs (ZKPs)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Text 20"/>
          <p:cNvSpPr/>
          <p:nvPr/>
        </p:nvSpPr>
        <p:spPr>
          <a:xfrm>
            <a:off x="5897880" y="185076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Prove ownership without revealing personal details — privacy-preserving records.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Shape 21"/>
          <p:cNvSpPr/>
          <p:nvPr/>
        </p:nvSpPr>
        <p:spPr>
          <a:xfrm>
            <a:off x="5760720" y="2325960"/>
            <a:ext cx="3200040" cy="749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Text 22"/>
          <p:cNvSpPr/>
          <p:nvPr/>
        </p:nvSpPr>
        <p:spPr>
          <a:xfrm>
            <a:off x="5897880" y="2381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563eb"/>
                </a:solidFill>
                <a:latin typeface="Calibri"/>
                <a:ea typeface="Calibri"/>
              </a:rPr>
              <a:t>Layer 2 Deployment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23"/>
          <p:cNvSpPr/>
          <p:nvPr/>
        </p:nvSpPr>
        <p:spPr>
          <a:xfrm>
            <a:off x="5897880" y="269172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Polygon / Arbitrum for sub-cent gas fees, inheriting Ethereum PoS security.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Shape 24"/>
          <p:cNvSpPr/>
          <p:nvPr/>
        </p:nvSpPr>
        <p:spPr>
          <a:xfrm>
            <a:off x="5760720" y="3167280"/>
            <a:ext cx="3200040" cy="749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Text 25"/>
          <p:cNvSpPr/>
          <p:nvPr/>
        </p:nvSpPr>
        <p:spPr>
          <a:xfrm>
            <a:off x="5897880" y="32223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563eb"/>
                </a:solidFill>
                <a:latin typeface="Calibri"/>
                <a:ea typeface="Calibri"/>
              </a:rPr>
              <a:t>The Graph Integration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Text 26"/>
          <p:cNvSpPr/>
          <p:nvPr/>
        </p:nvSpPr>
        <p:spPr>
          <a:xfrm>
            <a:off x="5897880" y="35330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Decentralized indexing — instant O(1) queries replacing O(n) eth_getLogs scans.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Shape 27"/>
          <p:cNvSpPr/>
          <p:nvPr/>
        </p:nvSpPr>
        <p:spPr>
          <a:xfrm>
            <a:off x="5760720" y="4008600"/>
            <a:ext cx="3200040" cy="749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28"/>
          <p:cNvSpPr/>
          <p:nvPr/>
        </p:nvSpPr>
        <p:spPr>
          <a:xfrm>
            <a:off x="5897880" y="40633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563eb"/>
                </a:solidFill>
                <a:latin typeface="Calibri"/>
                <a:ea typeface="Calibri"/>
              </a:rPr>
              <a:t>IT Act 2000 Compliance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29"/>
          <p:cNvSpPr/>
          <p:nvPr/>
        </p:nvSpPr>
        <p:spPr>
          <a:xfrm>
            <a:off x="5897880" y="437436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Legal integration to grant blockchain titles full evidentiary weight in Indian courts.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LibreOffice/24.2.7.2$Linux_X86_64 LibreOffice_project/420$Build-2</Application>
  <AppVersion>15.0000</AppVersion>
  <Words>1729</Words>
  <Paragraphs>388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2026-05-13T04:42:24Z</dcterms:created>
  <dc:creator>PptxGenJS</dc:creator>
  <dc:description/>
  <dc:language>en-US</dc:language>
  <cp:lastModifiedBy/>
  <cp:lastPrinted>2026-05-13T04:57:02Z</cp:lastPrinted>
  <dcterms:modified xsi:type="dcterms:W3CDTF">2026-05-22T03:22:01Z</dcterms:modified>
  <cp:revision>5</cp:revision>
  <dc:subject>PptxGenJS Presentation</dc:subject>
  <dc:title>TerraLedger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