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Default Extension="xlsx" ContentType="application/vnd.openxmlformats-officedocument.spreadsheetml.sheet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-490" y="-8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autoTitleDeleted val="1"/>
    <c:plotArea>
      <c:layout/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Gas Used</c:v>
                </c:pt>
              </c:strCache>
            </c:strRef>
          </c:tx>
          <c:spPr>
            <a:solidFill>
              <a:srgbClr val="2563EB"/>
            </a:solidFill>
            <a:effectLst/>
          </c:spP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11827"/>
                    </a:solidFill>
                    <a:latin typeface="Calibri"/>
                  </a:defRPr>
                </a:pPr>
                <a:endParaRPr lang="en-US"/>
              </a:p>
            </c:txPr>
            <c:showVal val="1"/>
            <c:extLst xmlns:c16r2="http://schemas.microsoft.com/office/drawing/2015/06/chart"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Deploy Contract</c:v>
                </c:pt>
                <c:pt idx="1">
                  <c:v>registerProperty()</c:v>
                </c:pt>
                <c:pt idx="2">
                  <c:v>requestTransfer()</c:v>
                </c:pt>
                <c:pt idx="3">
                  <c:v>approveTransfer()</c:v>
                </c:pt>
                <c:pt idx="4">
                  <c:v>updateDocument()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2115315</c:v>
                </c:pt>
                <c:pt idx="1">
                  <c:v>244229</c:v>
                </c:pt>
                <c:pt idx="2">
                  <c:v>51500</c:v>
                </c:pt>
                <c:pt idx="3">
                  <c:v>38852</c:v>
                </c:pt>
                <c:pt idx="4">
                  <c:v>47735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15BE-4B16-8EFF-F2E2AC81E8C4}"/>
            </c:ext>
          </c:extLst>
        </c:ser>
        <c:dLbls>
          <c:showVal val="1"/>
        </c:dLbls>
        <c:axId val="111570304"/>
        <c:axId val="150050688"/>
      </c:barChart>
      <c:catAx>
        <c:axId val="111570304"/>
        <c:scaling>
          <c:orientation val="minMax"/>
        </c:scaling>
        <c:axPos val="l"/>
        <c:numFmt formatCode="General" sourceLinked="1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150050688"/>
        <c:crosses val="autoZero"/>
        <c:auto val="1"/>
        <c:lblAlgn val="ctr"/>
        <c:lblOffset val="100"/>
        <c:noMultiLvlLbl val="1"/>
      </c:catAx>
      <c:valAx>
        <c:axId val="150050688"/>
        <c:scaling>
          <c:orientation val="minMax"/>
        </c:scaling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1115703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/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10127911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TerraLedger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Decentralized &amp; High Availability Framework for Land Registry Modernization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2880360"/>
            <a:ext cx="91440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30175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Anilabh Barua  |  Rishikesh Verma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Dept. of Information Technology, Gauhati University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by: Dr. Satyajit Sarmah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949440" y="105156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0" y="10515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Sepolia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949440" y="173736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17373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/ Pinata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949440" y="242316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24231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v0.8.20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949440" y="310896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0" y="31089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React.js + Ethers.js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440" y="3794760"/>
            <a:ext cx="1920240" cy="475488"/>
          </a:xfrm>
          <a:prstGeom prst="roundRect">
            <a:avLst>
              <a:gd name="adj" fmla="val 1923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0" y="379476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land records system is structurally broken — and it affects millions.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71600"/>
            <a:ext cx="420624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371600"/>
            <a:ext cx="45720" cy="14173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Point of Failure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SQL databases vulnerable to server downtime, hacks, and catastrophic data loss.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26080"/>
            <a:ext cx="420624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926080"/>
            <a:ext cx="45720" cy="14173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0358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Forgery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94360" y="33832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deeds and digital entries can be altered by corrupt administrators — no cryptographic proof.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420624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371600"/>
            <a:ext cx="45720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0" y="148132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Bureaucratic Bottlenecks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18288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Multi-week manual verification processes. The Registration Act of 1908 records transactions, not ownership.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926080"/>
            <a:ext cx="420624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926080"/>
            <a:ext cx="45720" cy="14173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30358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Transparency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029200" y="33832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cannot independently verify records. Systems like DILRMP offer zero cryptographic audit trail.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1480" y="4572000"/>
            <a:ext cx="832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Land-related disputes constitute the majority of civil litigation in India. In flood-prone Assam, physical loss of paper records further complicates title establishment.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Ethereum + IPFS model — no centralized backend required.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3" name="Shape 4">
            <a:extLst>
              <a:ext uri="{FF2B5EF4-FFF2-40B4-BE49-F238E27FC236}">
                <a16:creationId xmlns:a16="http://schemas.microsoft.com/office/drawing/2014/main" xmlns="" id="{843A5AC9-C6AB-95BD-DA19-EC73B79A1CAF}"/>
              </a:ext>
            </a:extLst>
          </p:cNvPr>
          <p:cNvSpPr/>
          <p:nvPr/>
        </p:nvSpPr>
        <p:spPr>
          <a:xfrm>
            <a:off x="443132" y="1291416"/>
            <a:ext cx="822960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4" name="Shape 5">
            <a:extLst>
              <a:ext uri="{FF2B5EF4-FFF2-40B4-BE49-F238E27FC236}">
                <a16:creationId xmlns:a16="http://schemas.microsoft.com/office/drawing/2014/main" xmlns="" id="{A4FDCB37-759C-5F32-2F73-B7F038D3B669}"/>
              </a:ext>
            </a:extLst>
          </p:cNvPr>
          <p:cNvSpPr/>
          <p:nvPr/>
        </p:nvSpPr>
        <p:spPr>
          <a:xfrm>
            <a:off x="443132" y="1410288"/>
            <a:ext cx="8229600" cy="557784"/>
          </a:xfrm>
          <a:prstGeom prst="rect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25" name="Shape 6">
            <a:extLst>
              <a:ext uri="{FF2B5EF4-FFF2-40B4-BE49-F238E27FC236}">
                <a16:creationId xmlns:a16="http://schemas.microsoft.com/office/drawing/2014/main" xmlns="" id="{23B7EA8C-C719-AC8A-8A02-BA74FBE79926}"/>
              </a:ext>
            </a:extLst>
          </p:cNvPr>
          <p:cNvSpPr/>
          <p:nvPr/>
        </p:nvSpPr>
        <p:spPr>
          <a:xfrm>
            <a:off x="443132" y="1410288"/>
            <a:ext cx="1920240" cy="557784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000000">
                <a:alpha val="12000"/>
              </a:srgbClr>
            </a:solidFill>
            <a:prstDash val="solid"/>
          </a:ln>
        </p:spPr>
      </p:sp>
      <p:sp>
        <p:nvSpPr>
          <p:cNvPr id="26" name="Text 7">
            <a:extLst>
              <a:ext uri="{FF2B5EF4-FFF2-40B4-BE49-F238E27FC236}">
                <a16:creationId xmlns:a16="http://schemas.microsoft.com/office/drawing/2014/main" xmlns="" id="{02336584-7A10-ADD8-B521-9C4CC27EA5E3}"/>
              </a:ext>
            </a:extLst>
          </p:cNvPr>
          <p:cNvSpPr/>
          <p:nvPr/>
        </p:nvSpPr>
        <p:spPr>
          <a:xfrm>
            <a:off x="488852" y="1410288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USER LAYER</a:t>
            </a:r>
            <a:endParaRPr lang="en-US" sz="9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xmlns="" id="{E5C60F92-AD5C-FD3C-D6DF-76A6524008D4}"/>
              </a:ext>
            </a:extLst>
          </p:cNvPr>
          <p:cNvSpPr/>
          <p:nvPr/>
        </p:nvSpPr>
        <p:spPr>
          <a:xfrm>
            <a:off x="2500532" y="1410288"/>
            <a:ext cx="603504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Browser + MetaMask Extension  ·  Public citizens &amp; administrators</a:t>
            </a:r>
            <a:endParaRPr lang="en-US" sz="950" dirty="0"/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xmlns="" id="{F1EAA954-95E2-7230-9784-B819820DD8A7}"/>
              </a:ext>
            </a:extLst>
          </p:cNvPr>
          <p:cNvSpPr/>
          <p:nvPr/>
        </p:nvSpPr>
        <p:spPr>
          <a:xfrm>
            <a:off x="4283612" y="1968072"/>
            <a:ext cx="4572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F7173"/>
                </a:solidFill>
              </a:rPr>
              <a:t>▼</a:t>
            </a:r>
            <a:endParaRPr lang="en-US" sz="700" dirty="0"/>
          </a:p>
        </p:txBody>
      </p:sp>
      <p:sp>
        <p:nvSpPr>
          <p:cNvPr id="29" name="Shape 10">
            <a:extLst>
              <a:ext uri="{FF2B5EF4-FFF2-40B4-BE49-F238E27FC236}">
                <a16:creationId xmlns:a16="http://schemas.microsoft.com/office/drawing/2014/main" xmlns="" id="{9659A8F7-ED52-99E6-EA27-F28E1F5A7101}"/>
              </a:ext>
            </a:extLst>
          </p:cNvPr>
          <p:cNvSpPr/>
          <p:nvPr/>
        </p:nvSpPr>
        <p:spPr>
          <a:xfrm>
            <a:off x="443132" y="2041224"/>
            <a:ext cx="8229600" cy="557784"/>
          </a:xfrm>
          <a:prstGeom prst="rect">
            <a:avLst/>
          </a:prstGeom>
          <a:solidFill>
            <a:srgbClr val="14A29A"/>
          </a:solidFill>
          <a:ln w="12700">
            <a:solidFill>
              <a:srgbClr val="14A29A"/>
            </a:solidFill>
            <a:prstDash val="solid"/>
          </a:ln>
        </p:spPr>
      </p:sp>
      <p:sp>
        <p:nvSpPr>
          <p:cNvPr id="30" name="Shape 11">
            <a:extLst>
              <a:ext uri="{FF2B5EF4-FFF2-40B4-BE49-F238E27FC236}">
                <a16:creationId xmlns:a16="http://schemas.microsoft.com/office/drawing/2014/main" xmlns="" id="{4129277A-BEB6-2102-DD0A-00FA5C45DCB3}"/>
              </a:ext>
            </a:extLst>
          </p:cNvPr>
          <p:cNvSpPr/>
          <p:nvPr/>
        </p:nvSpPr>
        <p:spPr>
          <a:xfrm>
            <a:off x="443132" y="2041224"/>
            <a:ext cx="1920240" cy="557784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000000">
                <a:alpha val="12000"/>
              </a:srgbClr>
            </a:solidFill>
            <a:prstDash val="solid"/>
          </a:ln>
        </p:spPr>
      </p:sp>
      <p:sp>
        <p:nvSpPr>
          <p:cNvPr id="31" name="Text 12">
            <a:extLst>
              <a:ext uri="{FF2B5EF4-FFF2-40B4-BE49-F238E27FC236}">
                <a16:creationId xmlns:a16="http://schemas.microsoft.com/office/drawing/2014/main" xmlns="" id="{B6BC7E4D-287D-5459-696C-29D408BD2FF6}"/>
              </a:ext>
            </a:extLst>
          </p:cNvPr>
          <p:cNvSpPr/>
          <p:nvPr/>
        </p:nvSpPr>
        <p:spPr>
          <a:xfrm>
            <a:off x="488852" y="2041224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FRONTEND LAYER</a:t>
            </a:r>
            <a:endParaRPr lang="en-US" sz="90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xmlns="" id="{7E526BD5-561B-BC35-2DFC-5426C15A32A7}"/>
              </a:ext>
            </a:extLst>
          </p:cNvPr>
          <p:cNvSpPr/>
          <p:nvPr/>
        </p:nvSpPr>
        <p:spPr>
          <a:xfrm>
            <a:off x="2500532" y="2041224"/>
            <a:ext cx="603504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React.js / Vite  ·  Cloudflare Pages CDN  ·  NetworkGuard component  ·  ethers.js v6</a:t>
            </a:r>
            <a:endParaRPr lang="en-US" sz="95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xmlns="" id="{87AD28D8-378C-0D8F-9C00-CC1FC77F1049}"/>
              </a:ext>
            </a:extLst>
          </p:cNvPr>
          <p:cNvSpPr/>
          <p:nvPr/>
        </p:nvSpPr>
        <p:spPr>
          <a:xfrm>
            <a:off x="4283612" y="2599008"/>
            <a:ext cx="4572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F7173"/>
                </a:solidFill>
              </a:rPr>
              <a:t>▼</a:t>
            </a:r>
            <a:endParaRPr lang="en-US" sz="700" dirty="0"/>
          </a:p>
        </p:txBody>
      </p:sp>
      <p:sp>
        <p:nvSpPr>
          <p:cNvPr id="34" name="Shape 15">
            <a:extLst>
              <a:ext uri="{FF2B5EF4-FFF2-40B4-BE49-F238E27FC236}">
                <a16:creationId xmlns:a16="http://schemas.microsoft.com/office/drawing/2014/main" xmlns="" id="{AE7D0E1A-7F09-5EC6-4C80-0ACAAF690589}"/>
              </a:ext>
            </a:extLst>
          </p:cNvPr>
          <p:cNvSpPr/>
          <p:nvPr/>
        </p:nvSpPr>
        <p:spPr>
          <a:xfrm>
            <a:off x="443132" y="2672160"/>
            <a:ext cx="8229600" cy="557784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35" name="Shape 16">
            <a:extLst>
              <a:ext uri="{FF2B5EF4-FFF2-40B4-BE49-F238E27FC236}">
                <a16:creationId xmlns:a16="http://schemas.microsoft.com/office/drawing/2014/main" xmlns="" id="{11601D35-7DD4-30E1-2494-518BA1120880}"/>
              </a:ext>
            </a:extLst>
          </p:cNvPr>
          <p:cNvSpPr/>
          <p:nvPr/>
        </p:nvSpPr>
        <p:spPr>
          <a:xfrm>
            <a:off x="443132" y="2672160"/>
            <a:ext cx="1920240" cy="557784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000000">
                <a:alpha val="12000"/>
              </a:srgbClr>
            </a:solidFill>
            <a:prstDash val="solid"/>
          </a:ln>
        </p:spPr>
      </p:sp>
      <p:sp>
        <p:nvSpPr>
          <p:cNvPr id="36" name="Text 17">
            <a:extLst>
              <a:ext uri="{FF2B5EF4-FFF2-40B4-BE49-F238E27FC236}">
                <a16:creationId xmlns:a16="http://schemas.microsoft.com/office/drawing/2014/main" xmlns="" id="{0C1D8451-7CE7-5016-29B7-F5BD76001E84}"/>
              </a:ext>
            </a:extLst>
          </p:cNvPr>
          <p:cNvSpPr/>
          <p:nvPr/>
        </p:nvSpPr>
        <p:spPr>
          <a:xfrm>
            <a:off x="488852" y="2672160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RPC / MIDDLEWARE</a:t>
            </a:r>
            <a:endParaRPr lang="en-US" sz="900" dirty="0"/>
          </a:p>
        </p:txBody>
      </p:sp>
      <p:sp>
        <p:nvSpPr>
          <p:cNvPr id="37" name="Text 18">
            <a:extLst>
              <a:ext uri="{FF2B5EF4-FFF2-40B4-BE49-F238E27FC236}">
                <a16:creationId xmlns:a16="http://schemas.microsoft.com/office/drawing/2014/main" xmlns="" id="{B4962D7B-2B21-5791-B044-2EF1603C0903}"/>
              </a:ext>
            </a:extLst>
          </p:cNvPr>
          <p:cNvSpPr/>
          <p:nvPr/>
        </p:nvSpPr>
        <p:spPr>
          <a:xfrm>
            <a:off x="2500532" y="2672160"/>
            <a:ext cx="603504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Alchemy RPC (Primary)  →  Public Sepolia Node (Fallback)  ·  DEPLOY_BLOCK = #10,725,429 optimization</a:t>
            </a:r>
            <a:endParaRPr lang="en-US" sz="950" dirty="0"/>
          </a:p>
        </p:txBody>
      </p:sp>
      <p:sp>
        <p:nvSpPr>
          <p:cNvPr id="38" name="Text 19">
            <a:extLst>
              <a:ext uri="{FF2B5EF4-FFF2-40B4-BE49-F238E27FC236}">
                <a16:creationId xmlns:a16="http://schemas.microsoft.com/office/drawing/2014/main" xmlns="" id="{E36B6F24-9E7D-DBE7-E6C6-3FF416383003}"/>
              </a:ext>
            </a:extLst>
          </p:cNvPr>
          <p:cNvSpPr/>
          <p:nvPr/>
        </p:nvSpPr>
        <p:spPr>
          <a:xfrm>
            <a:off x="4283612" y="3229944"/>
            <a:ext cx="4572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F7173"/>
                </a:solidFill>
              </a:rPr>
              <a:t>▼</a:t>
            </a:r>
            <a:endParaRPr lang="en-US" sz="700" dirty="0"/>
          </a:p>
        </p:txBody>
      </p:sp>
      <p:sp>
        <p:nvSpPr>
          <p:cNvPr id="39" name="Shape 20">
            <a:extLst>
              <a:ext uri="{FF2B5EF4-FFF2-40B4-BE49-F238E27FC236}">
                <a16:creationId xmlns:a16="http://schemas.microsoft.com/office/drawing/2014/main" xmlns="" id="{4E2E024B-1D2D-2133-5E89-396E98C2E3F9}"/>
              </a:ext>
            </a:extLst>
          </p:cNvPr>
          <p:cNvSpPr/>
          <p:nvPr/>
        </p:nvSpPr>
        <p:spPr>
          <a:xfrm>
            <a:off x="443132" y="3303096"/>
            <a:ext cx="8229600" cy="557784"/>
          </a:xfrm>
          <a:prstGeom prst="rect">
            <a:avLst/>
          </a:prstGeom>
          <a:solidFill>
            <a:srgbClr val="1A6B6D"/>
          </a:solidFill>
          <a:ln w="12700">
            <a:solidFill>
              <a:srgbClr val="1A6B6D"/>
            </a:solidFill>
            <a:prstDash val="solid"/>
          </a:ln>
        </p:spPr>
      </p:sp>
      <p:sp>
        <p:nvSpPr>
          <p:cNvPr id="40" name="Shape 21">
            <a:extLst>
              <a:ext uri="{FF2B5EF4-FFF2-40B4-BE49-F238E27FC236}">
                <a16:creationId xmlns:a16="http://schemas.microsoft.com/office/drawing/2014/main" xmlns="" id="{53C72782-0B66-8C74-B4E3-39B12565CA93}"/>
              </a:ext>
            </a:extLst>
          </p:cNvPr>
          <p:cNvSpPr/>
          <p:nvPr/>
        </p:nvSpPr>
        <p:spPr>
          <a:xfrm>
            <a:off x="443132" y="3303096"/>
            <a:ext cx="1920240" cy="557784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000000">
                <a:alpha val="12000"/>
              </a:srgbClr>
            </a:solidFill>
            <a:prstDash val="solid"/>
          </a:ln>
        </p:spPr>
      </p:sp>
      <p:sp>
        <p:nvSpPr>
          <p:cNvPr id="41" name="Text 22">
            <a:extLst>
              <a:ext uri="{FF2B5EF4-FFF2-40B4-BE49-F238E27FC236}">
                <a16:creationId xmlns:a16="http://schemas.microsoft.com/office/drawing/2014/main" xmlns="" id="{4E648D4D-EB09-560B-FCC9-5128DC855A3D}"/>
              </a:ext>
            </a:extLst>
          </p:cNvPr>
          <p:cNvSpPr/>
          <p:nvPr/>
        </p:nvSpPr>
        <p:spPr>
          <a:xfrm>
            <a:off x="488852" y="3303096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BLOCKCHAIN LAYER</a:t>
            </a:r>
            <a:endParaRPr lang="en-US" sz="900" dirty="0"/>
          </a:p>
        </p:txBody>
      </p:sp>
      <p:sp>
        <p:nvSpPr>
          <p:cNvPr id="42" name="Text 23">
            <a:extLst>
              <a:ext uri="{FF2B5EF4-FFF2-40B4-BE49-F238E27FC236}">
                <a16:creationId xmlns:a16="http://schemas.microsoft.com/office/drawing/2014/main" xmlns="" id="{5956DF65-B8FC-BECF-EAD4-B90C0A235F93}"/>
              </a:ext>
            </a:extLst>
          </p:cNvPr>
          <p:cNvSpPr/>
          <p:nvPr/>
        </p:nvSpPr>
        <p:spPr>
          <a:xfrm>
            <a:off x="2500532" y="3303096"/>
            <a:ext cx="603504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TerraLedger.sol on Ethereum Sepolia  ·  OpenZeppelin RBAC  ·  Immutable property registry</a:t>
            </a:r>
            <a:endParaRPr lang="en-US" sz="950" dirty="0"/>
          </a:p>
        </p:txBody>
      </p:sp>
      <p:sp>
        <p:nvSpPr>
          <p:cNvPr id="43" name="Text 24">
            <a:extLst>
              <a:ext uri="{FF2B5EF4-FFF2-40B4-BE49-F238E27FC236}">
                <a16:creationId xmlns:a16="http://schemas.microsoft.com/office/drawing/2014/main" xmlns="" id="{53E60A99-6031-054B-1A1A-A68ECD0E9D81}"/>
              </a:ext>
            </a:extLst>
          </p:cNvPr>
          <p:cNvSpPr/>
          <p:nvPr/>
        </p:nvSpPr>
        <p:spPr>
          <a:xfrm>
            <a:off x="4283612" y="3860880"/>
            <a:ext cx="45720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F7173"/>
                </a:solidFill>
              </a:rPr>
              <a:t>▼</a:t>
            </a:r>
            <a:endParaRPr lang="en-US" sz="700" dirty="0"/>
          </a:p>
        </p:txBody>
      </p:sp>
      <p:sp>
        <p:nvSpPr>
          <p:cNvPr id="44" name="Shape 25">
            <a:extLst>
              <a:ext uri="{FF2B5EF4-FFF2-40B4-BE49-F238E27FC236}">
                <a16:creationId xmlns:a16="http://schemas.microsoft.com/office/drawing/2014/main" xmlns="" id="{106268AB-F20E-F32E-0C28-80DE48B7B848}"/>
              </a:ext>
            </a:extLst>
          </p:cNvPr>
          <p:cNvSpPr/>
          <p:nvPr/>
        </p:nvSpPr>
        <p:spPr>
          <a:xfrm>
            <a:off x="443132" y="3934032"/>
            <a:ext cx="8229600" cy="557784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5" name="Shape 26">
            <a:extLst>
              <a:ext uri="{FF2B5EF4-FFF2-40B4-BE49-F238E27FC236}">
                <a16:creationId xmlns:a16="http://schemas.microsoft.com/office/drawing/2014/main" xmlns="" id="{F10249CC-06F6-781B-986C-0BE2644BFF92}"/>
              </a:ext>
            </a:extLst>
          </p:cNvPr>
          <p:cNvSpPr/>
          <p:nvPr/>
        </p:nvSpPr>
        <p:spPr>
          <a:xfrm>
            <a:off x="443132" y="3934032"/>
            <a:ext cx="1920240" cy="557784"/>
          </a:xfrm>
          <a:prstGeom prst="rect">
            <a:avLst/>
          </a:prstGeom>
          <a:solidFill>
            <a:srgbClr val="000000">
              <a:alpha val="12000"/>
            </a:srgbClr>
          </a:solidFill>
          <a:ln w="12700">
            <a:solidFill>
              <a:srgbClr val="000000">
                <a:alpha val="12000"/>
              </a:srgbClr>
            </a:solidFill>
            <a:prstDash val="solid"/>
          </a:ln>
        </p:spPr>
      </p:sp>
      <p:sp>
        <p:nvSpPr>
          <p:cNvPr id="46" name="Text 27">
            <a:extLst>
              <a:ext uri="{FF2B5EF4-FFF2-40B4-BE49-F238E27FC236}">
                <a16:creationId xmlns:a16="http://schemas.microsoft.com/office/drawing/2014/main" xmlns="" id="{D51D9265-5885-F37F-1C0A-7971336A623A}"/>
              </a:ext>
            </a:extLst>
          </p:cNvPr>
          <p:cNvSpPr/>
          <p:nvPr/>
        </p:nvSpPr>
        <p:spPr>
          <a:xfrm>
            <a:off x="488852" y="3934032"/>
            <a:ext cx="18288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STORAGE LAYER</a:t>
            </a:r>
            <a:endParaRPr lang="en-US" sz="900" dirty="0"/>
          </a:p>
        </p:txBody>
      </p:sp>
      <p:sp>
        <p:nvSpPr>
          <p:cNvPr id="47" name="Text 28">
            <a:extLst>
              <a:ext uri="{FF2B5EF4-FFF2-40B4-BE49-F238E27FC236}">
                <a16:creationId xmlns:a16="http://schemas.microsoft.com/office/drawing/2014/main" xmlns="" id="{72B951B2-494C-B775-172F-1EBC9E3E2656}"/>
              </a:ext>
            </a:extLst>
          </p:cNvPr>
          <p:cNvSpPr/>
          <p:nvPr/>
        </p:nvSpPr>
        <p:spPr>
          <a:xfrm>
            <a:off x="2500532" y="3934032"/>
            <a:ext cx="603504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</a:rPr>
              <a:t>IPFS via Pinata  ·  CID stored on-chain  ·  Content-addressed document verification</a:t>
            </a:r>
            <a:endParaRPr lang="en-US" sz="950" dirty="0"/>
          </a:p>
        </p:txBody>
      </p:sp>
      <p:sp>
        <p:nvSpPr>
          <p:cNvPr id="48" name="Text 29">
            <a:extLst>
              <a:ext uri="{FF2B5EF4-FFF2-40B4-BE49-F238E27FC236}">
                <a16:creationId xmlns:a16="http://schemas.microsoft.com/office/drawing/2014/main" xmlns="" id="{68AE44EE-0F74-1002-4AF1-66C7CF1AE5FA}"/>
              </a:ext>
            </a:extLst>
          </p:cNvPr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Dynamic RPC Fallback</a:t>
            </a:r>
            <a:endParaRPr lang="en-US" sz="850" dirty="0"/>
          </a:p>
          <a:p>
            <a:pPr marL="0" indent="0">
              <a:buNone/>
            </a:pPr>
            <a:r>
              <a:rPr lang="en-US" sz="850" i="1" dirty="0">
                <a:solidFill>
                  <a:srgbClr val="475569"/>
                </a:solidFill>
              </a:rPr>
              <a:t>Wallet-less users automatically route via public Sepolia node for unrestricted eth_getLogs access.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VERIFICATION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Verification Protocol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1 if H(F_local) = H(F_ipfs)  |  Pr(forgery) ≈ 1 / 2²⁵⁶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210312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2103120"/>
            <a:ext cx="1600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Selects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8800" y="2560320"/>
            <a:ext cx="41148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11680" y="2103120"/>
            <a:ext cx="1600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11680" y="2103120"/>
            <a:ext cx="1600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11880" y="2560320"/>
            <a:ext cx="41148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2103120"/>
            <a:ext cx="160020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94760" y="2103120"/>
            <a:ext cx="1600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CID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Blockchain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(documentHash)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94960" y="2560320"/>
            <a:ext cx="41148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577840" y="2103120"/>
            <a:ext cx="160020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77840" y="2103120"/>
            <a:ext cx="1600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File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IPFS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SHA-256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78040" y="2560320"/>
            <a:ext cx="41148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60920" y="2103120"/>
            <a:ext cx="1600200" cy="914400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2103120"/>
            <a:ext cx="1600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8600" y="1874520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11680" y="1874520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794760" y="1874520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577840" y="1874520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60920" y="1874520"/>
            <a:ext cx="1600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406640" y="3241548"/>
            <a:ext cx="1600200" cy="777240"/>
          </a:xfrm>
          <a:prstGeom prst="diamond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60920" y="3246120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Match?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H="1">
            <a:off x="6627641" y="3636499"/>
            <a:ext cx="777232" cy="2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68054" y="411480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165592" y="4023360"/>
            <a:ext cx="0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9440" y="3693473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210321" y="3402975"/>
            <a:ext cx="1417320" cy="50292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66360" y="3407897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TAMPERED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229600" y="4018788"/>
            <a:ext cx="0" cy="608076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4572000"/>
            <a:ext cx="1280160" cy="411480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4572000"/>
            <a:ext cx="1280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28600" y="4434840"/>
            <a:ext cx="713232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498848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is collision-resistant — Pr(forgery) ≈ 1 in 2²⁵⁶ ≈ 1.16 × 10⁻⁷⁷.  File never leaves the user's browser; hashing is entirely client-side via CryptoJS.</a:t>
            </a:r>
            <a:endParaRPr lang="en-US" sz="1000" dirty="0"/>
          </a:p>
        </p:txBody>
      </p:sp>
      <p:sp>
        <p:nvSpPr>
          <p:cNvPr id="38" name="Shape 31">
            <a:extLst>
              <a:ext uri="{FF2B5EF4-FFF2-40B4-BE49-F238E27FC236}">
                <a16:creationId xmlns:a16="http://schemas.microsoft.com/office/drawing/2014/main" xmlns="" id="{F3CBC174-89B3-D08A-8AB1-64F86F82E8EC}"/>
              </a:ext>
            </a:extLst>
          </p:cNvPr>
          <p:cNvSpPr/>
          <p:nvPr/>
        </p:nvSpPr>
        <p:spPr>
          <a:xfrm>
            <a:off x="8229600" y="3017520"/>
            <a:ext cx="0" cy="22860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DESIGN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OpenZeppelin AccessControl — models real-world legal hierarchies.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83280" y="1371600"/>
            <a:ext cx="2560320" cy="7498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83280" y="1371600"/>
            <a:ext cx="45720" cy="7498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1463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DEFAULT_ADMIN_ROLE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520440" y="177393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Supreme deployer. Halts system, initiates upgrades.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71600" y="2423160"/>
            <a:ext cx="256032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423160"/>
            <a:ext cx="45720" cy="74980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0876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AUTHORITY_ROLE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08760" y="28254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Grants / revokes Registrar privileges via RoleManager.jsx.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03520" y="2423160"/>
            <a:ext cx="256032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2423160"/>
            <a:ext cx="45720" cy="749808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40680" y="2514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REGISTRAR_ROLE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40680" y="282549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Mints titles, approves transfers, submits corrections.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371600" y="3474720"/>
            <a:ext cx="256032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71600" y="3474720"/>
            <a:ext cx="45720" cy="749808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0876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OWNER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08760" y="38770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title. Can request a transfer to a buyer.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03520" y="3474720"/>
            <a:ext cx="2560320" cy="749808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03520" y="3474720"/>
            <a:ext cx="45720" cy="74980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40680" y="3566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CITIZEN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40680" y="38770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Wallet-less read access to any record.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 flipH="1">
            <a:off x="2651760" y="2121408"/>
            <a:ext cx="2011680" cy="301752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2121408"/>
            <a:ext cx="1920240" cy="301752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51760" y="3172968"/>
            <a:ext cx="0" cy="301752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83680" y="3172968"/>
            <a:ext cx="0" cy="301752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4325112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Functions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" y="461772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registerProperty()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167128" y="461772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requestTransfer()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167128" y="484632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922776" y="461772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approveTransfer()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922776" y="484632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678424" y="461772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addRegistrar()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678424" y="484632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434072" y="4617720"/>
            <a:ext cx="1600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updatePropertyDocument()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434072" y="4846320"/>
            <a:ext cx="1600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TRANSFER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Dual-Signature Trustless Escrow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FSM: δ(S, σ_Registrar) → S'   |   Γ(S_Pending, σ_Registrar, σ_Buyer) → S_Transferred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377440"/>
            <a:ext cx="2011680" cy="822960"/>
          </a:xfrm>
          <a:prstGeom prst="roundRect">
            <a:avLst>
              <a:gd name="adj" fmla="val 13333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7744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66160" y="2377440"/>
            <a:ext cx="2011680" cy="822960"/>
          </a:xfrm>
          <a:prstGeom prst="roundRect">
            <a:avLst>
              <a:gd name="adj" fmla="val 1333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237744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75120" y="2377440"/>
            <a:ext cx="2011680" cy="82296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37744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TRANSFERRED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468880" y="2788920"/>
            <a:ext cx="1097280" cy="0"/>
          </a:xfrm>
          <a:prstGeom prst="line">
            <a:avLst/>
          </a:prstGeom>
          <a:noFill/>
          <a:ln w="1905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23317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requestTransfer()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designates buyer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577840" y="2788920"/>
            <a:ext cx="109728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77840" y="23317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approveTransfer()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validates + executes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566160" y="3337560"/>
            <a:ext cx="0" cy="0"/>
          </a:xfrm>
          <a:prstGeom prst="line">
            <a:avLst/>
          </a:prstGeom>
          <a:noFill/>
          <a:ln w="12700">
            <a:solidFill>
              <a:srgbClr val="DC262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00732" y="3255264"/>
            <a:ext cx="1097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cancelTransfer()  —  failsafe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" y="3703320"/>
            <a:ext cx="1965960" cy="12344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703320"/>
            <a:ext cx="1965960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(Owner)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requestTransfer(buyer_address)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cancelTransfer()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606040" y="3703320"/>
            <a:ext cx="1965960" cy="12344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06040" y="3703320"/>
            <a:ext cx="1965960" cy="3657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679192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property.owner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transferRequests[id]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800600" y="3703320"/>
            <a:ext cx="1965960" cy="12344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0600" y="3703320"/>
            <a:ext cx="196596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73752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73752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approveTransfer(propertyId)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rejectTransfer()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995160" y="3703320"/>
            <a:ext cx="1965960" cy="12344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95160" y="3703320"/>
            <a:ext cx="19659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068312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068312" y="406908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ownership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METRICS &amp; ECONOMIC VIABILITY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 Measured Gas Consumption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values measured on Ethereum Sepolia Testnet (live) and Hardhat (deterministic).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graphicFrame>
        <p:nvGraphicFramePr>
          <p:cNvPr id="6" name="Chart 0"/>
          <p:cNvGraphicFramePr/>
          <p:nvPr/>
        </p:nvGraphicFramePr>
        <p:xfrm>
          <a:off x="411480" y="137160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6309360" y="1417320"/>
            <a:ext cx="242316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309360" y="1417320"/>
            <a:ext cx="2423160" cy="3657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527048"/>
            <a:ext cx="2240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2,115,315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400800" y="19659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Deployment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0" y="2185416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(Sepolia)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309360" y="2560320"/>
            <a:ext cx="242316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560320"/>
            <a:ext cx="242316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0" y="2670048"/>
            <a:ext cx="2240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244,229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0" y="31089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registerProperty()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0" y="3328416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@ 1.505 Gwei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309360" y="3703320"/>
            <a:ext cx="242316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09360" y="3703320"/>
            <a:ext cx="2423160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3813048"/>
            <a:ext cx="224028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0.00037 ETH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400800" y="4251960"/>
            <a:ext cx="2240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Fee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800" y="4471416"/>
            <a:ext cx="2240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98.74% gas efficiency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411480" y="4828032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simulation: registerProperty()=289,529  requestTransfer()=51,500  approveTransfer()=38,852  updateDocument()=47,735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Transaction Lifecycle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~15–42 seconds total vs. multi-week traditional processes.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560320"/>
            <a:ext cx="804672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2103120"/>
            <a:ext cx="128016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103120"/>
            <a:ext cx="1280160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157984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Upload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(Pinata API)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27614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2–5 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47088" y="2103120"/>
            <a:ext cx="128016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847088" y="2103120"/>
            <a:ext cx="1280160" cy="3657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92808" y="2157984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MetaMask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47088" y="27614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36976" y="2103120"/>
            <a:ext cx="128016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36976" y="2103120"/>
            <a:ext cx="1280160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82696" y="2157984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Broadcast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Mempool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36976" y="27614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26864" y="2103120"/>
            <a:ext cx="128016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26864" y="2103120"/>
            <a:ext cx="12801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72584" y="2157984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conf)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626864" y="27614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12 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016752" y="2103120"/>
            <a:ext cx="128016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16752" y="2103120"/>
            <a:ext cx="128016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62472" y="2157984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3-Block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 Margin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016752" y="27614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36 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406640" y="2103120"/>
            <a:ext cx="1280160" cy="914400"/>
          </a:xfrm>
          <a:prstGeom prst="rect">
            <a:avLst/>
          </a:prstGeom>
          <a:solidFill>
            <a:srgbClr val="F3F4F6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06640" y="2103120"/>
            <a:ext cx="1280160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52360" y="2157984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Update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(event)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406640" y="27614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11480" y="3070271"/>
            <a:ext cx="8321040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3134281"/>
            <a:ext cx="5029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(excl. user signature): ~15–42 seconds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623560" y="3204618"/>
            <a:ext cx="2926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multi-week manual process</a:t>
            </a:r>
            <a:endParaRPr lang="en-US" sz="1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851576575"/>
              </p:ext>
            </p:extLst>
          </p:nvPr>
        </p:nvGraphicFramePr>
        <p:xfrm>
          <a:off x="411480" y="3826409"/>
          <a:ext cx="8321040" cy="12192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557784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Interval (Sepolia)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seconds (empirically observed)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Block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#10,725,429  |  2026-04-24T21:38:12 UTC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 Block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#10,725,509  |  2026-04-24T21:56:00 UTC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Transactions/Block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~128 (135 in deploy block, 121 in register block)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ARCHITECTURE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UUPS Smart Contract Upgradeability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Separating state (permanent) from logic (swappable) — zero data migration cost.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71600"/>
            <a:ext cx="3931920" cy="35204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630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Current: Fixed Contract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No bug fixes possible after deployment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3500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Cannot add GPS / ZKP / fractional ownership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825496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Full data migration = expensive + risky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330098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Single contract address — no separation of concerns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371600"/>
            <a:ext cx="3977640" cy="352044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46304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UUPS Proxy Pattern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37760" y="187452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Proxy address permanent — all records preserved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35000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Logic contract swappable via upgradeProxy()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37760" y="2825496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AUTHORITY_ROLE controls upgrades (multi-sig)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7760" y="3300984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48-hour TimelockController for community audit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37760" y="3776472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Storage layout enforced by OZ upgrades-core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43400" y="3127248"/>
            <a:ext cx="41148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25112" y="2971800"/>
            <a:ext cx="438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11480" y="4572000"/>
            <a:ext cx="8321040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626864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Multi-sig Authority  →  TimelockController (48h delay)  →  UUPS Proxy  →  Implementation V1 / V2 / V3…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SCALABILITY &amp; INDEXING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Indexing Strategy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Replacing O(n) eth_getLogs scans with O(1) GraphQL queries via The Graph Protocol.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71600"/>
            <a:ext cx="3749040" cy="320040"/>
          </a:xfrm>
          <a:prstGeom prst="rect">
            <a:avLst/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408176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Architecture (Bottleneck)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8620" y="1764792"/>
            <a:ext cx="1067386" cy="615462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5740" y="1705356"/>
            <a:ext cx="14630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456006" y="2092569"/>
            <a:ext cx="898574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03511" y="1793633"/>
            <a:ext cx="1070902" cy="586621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95571" y="1726809"/>
            <a:ext cx="14630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eth_getLogs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(O(n) scan)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1" y="2142684"/>
            <a:ext cx="1463040" cy="6155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88737" y="1788165"/>
            <a:ext cx="1051560" cy="586623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4216" y="1696037"/>
            <a:ext cx="1276642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Alchemy /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 Node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11480" y="2633472"/>
          <a:ext cx="3749040" cy="13411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RPC 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properties (~100 blocks)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Negligible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properties (~10k blocks)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5–15s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 properties (~1M blocks)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60–300s  FAILS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Expensive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4709160" y="1371600"/>
            <a:ext cx="4023360" cy="320040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800600" y="140817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Architecture (The Graph Protocol)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823459" y="1788165"/>
            <a:ext cx="1234442" cy="597174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82783" y="1726809"/>
            <a:ext cx="14630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057901" y="2142684"/>
            <a:ext cx="754379" cy="6156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48046" y="1783080"/>
            <a:ext cx="1332914" cy="597174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24954" y="1726809"/>
            <a:ext cx="14630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Node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(Indexer)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648429" y="2142684"/>
            <a:ext cx="809771" cy="6156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11086" y="1780441"/>
            <a:ext cx="1188720" cy="594347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662497" y="1720992"/>
            <a:ext cx="14630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(Indexed)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709160" y="2514600"/>
            <a:ext cx="0" cy="347472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709160" y="2862072"/>
            <a:ext cx="1463040" cy="73152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09160" y="2862072"/>
            <a:ext cx="146304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(GraphQL)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6172200" y="3227832"/>
            <a:ext cx="1371600" cy="0"/>
          </a:xfrm>
          <a:prstGeom prst="line">
            <a:avLst/>
          </a:prstGeom>
          <a:noFill/>
          <a:ln w="19050">
            <a:solidFill>
              <a:srgbClr val="D1D5D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172200" y="3026664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query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543800" y="2862072"/>
            <a:ext cx="1188720" cy="731520"/>
          </a:xfrm>
          <a:prstGeom prst="rect">
            <a:avLst/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543800" y="2862072"/>
            <a:ext cx="11887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GraphQL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4709160" y="373075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The Graph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709160" y="400507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O(1) instant queries — history pre-indexed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709160" y="427939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Filter by owner, location, date range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4709160" y="455371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Free aggregate stats (gas, count, transfers)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4709160" y="482803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Used by Uniswap, Aave, ENS in production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1480" y="4023360"/>
            <a:ext cx="3749040" cy="868680"/>
          </a:xfrm>
          <a:prstGeom prst="rect">
            <a:avLst/>
          </a:prstGeom>
          <a:solidFill>
            <a:srgbClr val="EFF6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4096512"/>
            <a:ext cx="3474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Optimization (interim)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548640" y="43525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DEPLOY_BLOCK = 10,725,429 constant limits eth_getLogs to scan only post-deployment blocks, minimizing RPC payload.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12">
            <a:extLst>
              <a:ext uri="{FF2B5EF4-FFF2-40B4-BE49-F238E27FC236}">
                <a16:creationId xmlns:a16="http://schemas.microsoft.com/office/drawing/2014/main" xmlns="" id="{98BAB5DF-AB20-5A13-299E-F70B5CD0A113}"/>
              </a:ext>
            </a:extLst>
          </p:cNvPr>
          <p:cNvSpPr/>
          <p:nvPr/>
        </p:nvSpPr>
        <p:spPr>
          <a:xfrm>
            <a:off x="8595362" y="2165360"/>
            <a:ext cx="0" cy="2971800"/>
          </a:xfrm>
          <a:prstGeom prst="line">
            <a:avLst/>
          </a:prstGeom>
          <a:noFill/>
          <a:ln w="12700">
            <a:solidFill>
              <a:srgbClr val="D1D5DB"/>
            </a:solidFill>
            <a:prstDash val="dash"/>
          </a:ln>
        </p:spPr>
      </p:sp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Simulation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RBAC test using 3 MetaMask wallets on Ethereum Sepolia.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5202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5202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B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89320" y="125202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LANDOWNER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0718" y="2025396"/>
            <a:ext cx="0" cy="2971800"/>
          </a:xfrm>
          <a:prstGeom prst="line">
            <a:avLst/>
          </a:prstGeom>
          <a:noFill/>
          <a:ln w="12700">
            <a:solidFill>
              <a:srgbClr val="D1D5DB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200400" y="2025396"/>
            <a:ext cx="0" cy="2971800"/>
          </a:xfrm>
          <a:prstGeom prst="line">
            <a:avLst/>
          </a:prstGeom>
          <a:noFill/>
          <a:ln w="12700">
            <a:solidFill>
              <a:srgbClr val="D1D5DB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010422" y="1988820"/>
            <a:ext cx="0" cy="2971800"/>
          </a:xfrm>
          <a:prstGeom prst="line">
            <a:avLst/>
          </a:prstGeom>
          <a:noFill/>
          <a:ln w="12700">
            <a:solidFill>
              <a:srgbClr val="D1D5DB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87972" y="2386559"/>
            <a:ext cx="2649121" cy="0"/>
          </a:xfrm>
          <a:prstGeom prst="line">
            <a:avLst/>
          </a:prstGeom>
          <a:noFill/>
          <a:ln w="15240">
            <a:solidFill>
              <a:srgbClr val="1118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5420" y="2249399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3263" y="2165360"/>
            <a:ext cx="2532177" cy="2366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 REGISTRAR_ROLE (addRegistrar)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398" y="2427962"/>
            <a:ext cx="278892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07318" y="2291297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300634" y="2239970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registerProperty(owner=C, location, area, CID)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13938" y="2630207"/>
            <a:ext cx="2788920" cy="0"/>
          </a:xfrm>
          <a:prstGeom prst="line">
            <a:avLst/>
          </a:prstGeom>
          <a:noFill/>
          <a:ln w="1524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0006" y="2491889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70258" y="2408367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requestTransfer(buyer=A)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14468" y="2630910"/>
            <a:ext cx="2788920" cy="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96770" y="2493047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19746" y="2403014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approveTransfer() → owner updated on-chain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 flipV="1">
            <a:off x="502922" y="2614982"/>
            <a:ext cx="2634172" cy="6503"/>
          </a:xfrm>
          <a:prstGeom prst="line">
            <a:avLst/>
          </a:prstGeom>
          <a:noFill/>
          <a:ln w="1524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19930" y="2478792"/>
            <a:ext cx="320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7973" y="2394121"/>
            <a:ext cx="2697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revokeRegistrar(B) → B's tx reverts (test)</a:t>
            </a:r>
            <a:endParaRPr lang="en-US" sz="900" dirty="0"/>
          </a:p>
        </p:txBody>
      </p:sp>
      <p:sp>
        <p:nvSpPr>
          <p:cNvPr id="110" name="Shape 5">
            <a:extLst>
              <a:ext uri="{FF2B5EF4-FFF2-40B4-BE49-F238E27FC236}">
                <a16:creationId xmlns:a16="http://schemas.microsoft.com/office/drawing/2014/main" xmlns="" id="{AF818771-39D3-3928-FC7B-159C4BD48AF7}"/>
              </a:ext>
            </a:extLst>
          </p:cNvPr>
          <p:cNvSpPr/>
          <p:nvPr/>
        </p:nvSpPr>
        <p:spPr>
          <a:xfrm>
            <a:off x="436098" y="1240768"/>
            <a:ext cx="2606040" cy="9601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1" name="Text 6">
            <a:extLst>
              <a:ext uri="{FF2B5EF4-FFF2-40B4-BE49-F238E27FC236}">
                <a16:creationId xmlns:a16="http://schemas.microsoft.com/office/drawing/2014/main" xmlns="" id="{F1ECAC68-9675-7965-5DE2-678743C0AD2A}"/>
              </a:ext>
            </a:extLst>
          </p:cNvPr>
          <p:cNvSpPr/>
          <p:nvPr/>
        </p:nvSpPr>
        <p:spPr>
          <a:xfrm>
            <a:off x="436098" y="1304776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Account A</a:t>
            </a:r>
            <a:endParaRPr lang="en-US" sz="1200" dirty="0"/>
          </a:p>
        </p:txBody>
      </p:sp>
      <p:sp>
        <p:nvSpPr>
          <p:cNvPr id="112" name="Shape 7">
            <a:extLst>
              <a:ext uri="{FF2B5EF4-FFF2-40B4-BE49-F238E27FC236}">
                <a16:creationId xmlns:a16="http://schemas.microsoft.com/office/drawing/2014/main" xmlns="" id="{14D8B78B-58B3-4069-0463-1B5D42874255}"/>
              </a:ext>
            </a:extLst>
          </p:cNvPr>
          <p:cNvSpPr/>
          <p:nvPr/>
        </p:nvSpPr>
        <p:spPr>
          <a:xfrm>
            <a:off x="1076178" y="1560808"/>
            <a:ext cx="1325880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3" name="Text 8">
            <a:extLst>
              <a:ext uri="{FF2B5EF4-FFF2-40B4-BE49-F238E27FC236}">
                <a16:creationId xmlns:a16="http://schemas.microsoft.com/office/drawing/2014/main" xmlns="" id="{19252166-B486-2C34-7692-ECA08E9A0D68}"/>
              </a:ext>
            </a:extLst>
          </p:cNvPr>
          <p:cNvSpPr/>
          <p:nvPr/>
        </p:nvSpPr>
        <p:spPr>
          <a:xfrm>
            <a:off x="1076178" y="15608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D1B2A"/>
                </a:solidFill>
              </a:rPr>
              <a:t>AUTHORITY</a:t>
            </a:r>
            <a:endParaRPr lang="en-US" sz="800" dirty="0"/>
          </a:p>
        </p:txBody>
      </p:sp>
      <p:sp>
        <p:nvSpPr>
          <p:cNvPr id="114" name="Text 9">
            <a:extLst>
              <a:ext uri="{FF2B5EF4-FFF2-40B4-BE49-F238E27FC236}">
                <a16:creationId xmlns:a16="http://schemas.microsoft.com/office/drawing/2014/main" xmlns="" id="{4DD20941-1A12-C3DD-4161-25ECCB456FFA}"/>
              </a:ext>
            </a:extLst>
          </p:cNvPr>
          <p:cNvSpPr/>
          <p:nvPr/>
        </p:nvSpPr>
        <p:spPr>
          <a:xfrm>
            <a:off x="527538" y="1807696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</a:rPr>
              <a:t>Deploys contract · Grants REGISTRAR_ROLE · Revokes roles · Final buyer in simulation</a:t>
            </a:r>
            <a:endParaRPr lang="en-US" sz="750" dirty="0"/>
          </a:p>
        </p:txBody>
      </p:sp>
      <p:sp>
        <p:nvSpPr>
          <p:cNvPr id="115" name="Shape 10">
            <a:extLst>
              <a:ext uri="{FF2B5EF4-FFF2-40B4-BE49-F238E27FC236}">
                <a16:creationId xmlns:a16="http://schemas.microsoft.com/office/drawing/2014/main" xmlns="" id="{4E11CB2C-90FF-B862-C7DC-57991DFE4E49}"/>
              </a:ext>
            </a:extLst>
          </p:cNvPr>
          <p:cNvSpPr/>
          <p:nvPr/>
        </p:nvSpPr>
        <p:spPr>
          <a:xfrm>
            <a:off x="3175778" y="1219018"/>
            <a:ext cx="2606040" cy="960120"/>
          </a:xfrm>
          <a:prstGeom prst="rect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6" name="Text 11">
            <a:extLst>
              <a:ext uri="{FF2B5EF4-FFF2-40B4-BE49-F238E27FC236}">
                <a16:creationId xmlns:a16="http://schemas.microsoft.com/office/drawing/2014/main" xmlns="" id="{69555651-A3A0-0426-2900-25C08E40E885}"/>
              </a:ext>
            </a:extLst>
          </p:cNvPr>
          <p:cNvSpPr/>
          <p:nvPr/>
        </p:nvSpPr>
        <p:spPr>
          <a:xfrm>
            <a:off x="3270738" y="1304776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Account B</a:t>
            </a:r>
            <a:endParaRPr lang="en-US" sz="1200" dirty="0"/>
          </a:p>
        </p:txBody>
      </p:sp>
      <p:sp>
        <p:nvSpPr>
          <p:cNvPr id="117" name="Shape 12">
            <a:extLst>
              <a:ext uri="{FF2B5EF4-FFF2-40B4-BE49-F238E27FC236}">
                <a16:creationId xmlns:a16="http://schemas.microsoft.com/office/drawing/2014/main" xmlns="" id="{8E5214A2-EB81-EAC1-65AF-3F576CC9FDF4}"/>
              </a:ext>
            </a:extLst>
          </p:cNvPr>
          <p:cNvSpPr/>
          <p:nvPr/>
        </p:nvSpPr>
        <p:spPr>
          <a:xfrm>
            <a:off x="3910818" y="1560808"/>
            <a:ext cx="1325880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3">
            <a:extLst>
              <a:ext uri="{FF2B5EF4-FFF2-40B4-BE49-F238E27FC236}">
                <a16:creationId xmlns:a16="http://schemas.microsoft.com/office/drawing/2014/main" xmlns="" id="{9F7EAAB1-747B-14E2-6B55-48925A6D2F95}"/>
              </a:ext>
            </a:extLst>
          </p:cNvPr>
          <p:cNvSpPr/>
          <p:nvPr/>
        </p:nvSpPr>
        <p:spPr>
          <a:xfrm>
            <a:off x="3910818" y="15608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F7173"/>
                </a:solidFill>
              </a:rPr>
              <a:t>REGISTRAR</a:t>
            </a:r>
            <a:endParaRPr lang="en-US" sz="800" dirty="0"/>
          </a:p>
        </p:txBody>
      </p:sp>
      <p:sp>
        <p:nvSpPr>
          <p:cNvPr id="119" name="Text 14">
            <a:extLst>
              <a:ext uri="{FF2B5EF4-FFF2-40B4-BE49-F238E27FC236}">
                <a16:creationId xmlns:a16="http://schemas.microsoft.com/office/drawing/2014/main" xmlns="" id="{AC8472B7-BC8B-C722-319B-45307E138417}"/>
              </a:ext>
            </a:extLst>
          </p:cNvPr>
          <p:cNvSpPr/>
          <p:nvPr/>
        </p:nvSpPr>
        <p:spPr>
          <a:xfrm>
            <a:off x="3362178" y="1807696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</a:rPr>
              <a:t>Registers properties · Approves transfers · Submits document corrections · Role revoked in Step 7</a:t>
            </a:r>
            <a:endParaRPr lang="en-US" sz="750" dirty="0"/>
          </a:p>
        </p:txBody>
      </p:sp>
      <p:sp>
        <p:nvSpPr>
          <p:cNvPr id="120" name="Shape 15">
            <a:extLst>
              <a:ext uri="{FF2B5EF4-FFF2-40B4-BE49-F238E27FC236}">
                <a16:creationId xmlns:a16="http://schemas.microsoft.com/office/drawing/2014/main" xmlns="" id="{E578ACA1-64A7-56B1-883E-0DF4C8DE33A9}"/>
              </a:ext>
            </a:extLst>
          </p:cNvPr>
          <p:cNvSpPr/>
          <p:nvPr/>
        </p:nvSpPr>
        <p:spPr>
          <a:xfrm>
            <a:off x="6003388" y="1208070"/>
            <a:ext cx="2606040" cy="960120"/>
          </a:xfrm>
          <a:prstGeom prst="rect">
            <a:avLst/>
          </a:prstGeom>
          <a:solidFill>
            <a:srgbClr val="14A29A"/>
          </a:solidFill>
          <a:ln w="12700">
            <a:solidFill>
              <a:srgbClr val="14A29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1" name="Text 16">
            <a:extLst>
              <a:ext uri="{FF2B5EF4-FFF2-40B4-BE49-F238E27FC236}">
                <a16:creationId xmlns:a16="http://schemas.microsoft.com/office/drawing/2014/main" xmlns="" id="{92D33E53-0E3B-F316-95E0-B212B13AA731}"/>
              </a:ext>
            </a:extLst>
          </p:cNvPr>
          <p:cNvSpPr/>
          <p:nvPr/>
        </p:nvSpPr>
        <p:spPr>
          <a:xfrm>
            <a:off x="6080760" y="1282025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Account C</a:t>
            </a:r>
            <a:endParaRPr lang="en-US" sz="1200" dirty="0"/>
          </a:p>
        </p:txBody>
      </p:sp>
      <p:sp>
        <p:nvSpPr>
          <p:cNvPr id="122" name="Shape 17">
            <a:extLst>
              <a:ext uri="{FF2B5EF4-FFF2-40B4-BE49-F238E27FC236}">
                <a16:creationId xmlns:a16="http://schemas.microsoft.com/office/drawing/2014/main" xmlns="" id="{D7C97388-2C6F-3F5E-80BF-803933999DF3}"/>
              </a:ext>
            </a:extLst>
          </p:cNvPr>
          <p:cNvSpPr/>
          <p:nvPr/>
        </p:nvSpPr>
        <p:spPr>
          <a:xfrm>
            <a:off x="6745458" y="1560808"/>
            <a:ext cx="1325880" cy="201168"/>
          </a:xfrm>
          <a:prstGeom prst="rect">
            <a:avLst/>
          </a:prstGeom>
          <a:solidFill>
            <a:srgbClr val="FFFFFF">
              <a:alpha val="25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3" name="Text 18">
            <a:extLst>
              <a:ext uri="{FF2B5EF4-FFF2-40B4-BE49-F238E27FC236}">
                <a16:creationId xmlns:a16="http://schemas.microsoft.com/office/drawing/2014/main" xmlns="" id="{95D73A7E-8105-4E82-9FB3-C11D6195C8F7}"/>
              </a:ext>
            </a:extLst>
          </p:cNvPr>
          <p:cNvSpPr/>
          <p:nvPr/>
        </p:nvSpPr>
        <p:spPr>
          <a:xfrm>
            <a:off x="6745458" y="156080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4A29A"/>
                </a:solidFill>
              </a:rPr>
              <a:t>LANDOWNER</a:t>
            </a:r>
            <a:endParaRPr lang="en-US" sz="800" dirty="0"/>
          </a:p>
        </p:txBody>
      </p:sp>
      <p:sp>
        <p:nvSpPr>
          <p:cNvPr id="124" name="Text 19">
            <a:extLst>
              <a:ext uri="{FF2B5EF4-FFF2-40B4-BE49-F238E27FC236}">
                <a16:creationId xmlns:a16="http://schemas.microsoft.com/office/drawing/2014/main" xmlns="" id="{F5B59568-AB7B-9A42-6560-DC4845D35923}"/>
              </a:ext>
            </a:extLst>
          </p:cNvPr>
          <p:cNvSpPr/>
          <p:nvPr/>
        </p:nvSpPr>
        <p:spPr>
          <a:xfrm>
            <a:off x="6196818" y="1807696"/>
            <a:ext cx="2423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</a:rPr>
              <a:t>Receives registered title · Initiates transfer to Account A · Tests cancel flow</a:t>
            </a:r>
            <a:endParaRPr lang="en-US" sz="750" dirty="0"/>
          </a:p>
        </p:txBody>
      </p:sp>
      <p:sp>
        <p:nvSpPr>
          <p:cNvPr id="176" name="Shape 20">
            <a:extLst>
              <a:ext uri="{FF2B5EF4-FFF2-40B4-BE49-F238E27FC236}">
                <a16:creationId xmlns:a16="http://schemas.microsoft.com/office/drawing/2014/main" xmlns="" id="{2C30F22B-6AA0-E59D-65ED-B4E88DF30F2F}"/>
              </a:ext>
            </a:extLst>
          </p:cNvPr>
          <p:cNvSpPr/>
          <p:nvPr/>
        </p:nvSpPr>
        <p:spPr>
          <a:xfrm>
            <a:off x="457202" y="2718586"/>
            <a:ext cx="8229600" cy="2743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77" name="Text 21">
            <a:extLst>
              <a:ext uri="{FF2B5EF4-FFF2-40B4-BE49-F238E27FC236}">
                <a16:creationId xmlns:a16="http://schemas.microsoft.com/office/drawing/2014/main" xmlns="" id="{9783AD31-DE83-4AB5-C783-C616BBB59E32}"/>
              </a:ext>
            </a:extLst>
          </p:cNvPr>
          <p:cNvSpPr/>
          <p:nvPr/>
        </p:nvSpPr>
        <p:spPr>
          <a:xfrm>
            <a:off x="502922" y="271858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SIMULATION STEPS — ETHEREUM SEPOLIA</a:t>
            </a:r>
            <a:endParaRPr lang="en-US" sz="900" dirty="0"/>
          </a:p>
        </p:txBody>
      </p:sp>
      <p:sp>
        <p:nvSpPr>
          <p:cNvPr id="178" name="Shape 22">
            <a:extLst>
              <a:ext uri="{FF2B5EF4-FFF2-40B4-BE49-F238E27FC236}">
                <a16:creationId xmlns:a16="http://schemas.microsoft.com/office/drawing/2014/main" xmlns="" id="{1962878B-36D4-0AA2-7E35-8E979AF93091}"/>
              </a:ext>
            </a:extLst>
          </p:cNvPr>
          <p:cNvSpPr/>
          <p:nvPr/>
        </p:nvSpPr>
        <p:spPr>
          <a:xfrm>
            <a:off x="457202" y="2992906"/>
            <a:ext cx="82296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9" name="Shape 23">
            <a:extLst>
              <a:ext uri="{FF2B5EF4-FFF2-40B4-BE49-F238E27FC236}">
                <a16:creationId xmlns:a16="http://schemas.microsoft.com/office/drawing/2014/main" xmlns="" id="{1BC58135-A828-164D-1ED8-4FF778E3A9C1}"/>
              </a:ext>
            </a:extLst>
          </p:cNvPr>
          <p:cNvSpPr/>
          <p:nvPr/>
        </p:nvSpPr>
        <p:spPr>
          <a:xfrm>
            <a:off x="502922" y="3038626"/>
            <a:ext cx="201168" cy="20116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80" name="Text 24">
            <a:extLst>
              <a:ext uri="{FF2B5EF4-FFF2-40B4-BE49-F238E27FC236}">
                <a16:creationId xmlns:a16="http://schemas.microsoft.com/office/drawing/2014/main" xmlns="" id="{6C10C35B-AECC-D5D3-0757-127E4512D6E1}"/>
              </a:ext>
            </a:extLst>
          </p:cNvPr>
          <p:cNvSpPr/>
          <p:nvPr/>
        </p:nvSpPr>
        <p:spPr>
          <a:xfrm>
            <a:off x="502922" y="303862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01</a:t>
            </a:r>
            <a:endParaRPr lang="en-US" sz="700" dirty="0"/>
          </a:p>
        </p:txBody>
      </p:sp>
      <p:sp>
        <p:nvSpPr>
          <p:cNvPr id="181" name="Shape 25">
            <a:extLst>
              <a:ext uri="{FF2B5EF4-FFF2-40B4-BE49-F238E27FC236}">
                <a16:creationId xmlns:a16="http://schemas.microsoft.com/office/drawing/2014/main" xmlns="" id="{1A6CF541-FB62-BCB4-1D8F-0519D25EDCD6}"/>
              </a:ext>
            </a:extLst>
          </p:cNvPr>
          <p:cNvSpPr/>
          <p:nvPr/>
        </p:nvSpPr>
        <p:spPr>
          <a:xfrm>
            <a:off x="749810" y="3038626"/>
            <a:ext cx="384048" cy="201168"/>
          </a:xfrm>
          <a:prstGeom prst="rect">
            <a:avLst/>
          </a:prstGeom>
          <a:solidFill>
            <a:srgbClr val="0D1B2A">
              <a:alpha val="25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2" name="Text 26">
            <a:extLst>
              <a:ext uri="{FF2B5EF4-FFF2-40B4-BE49-F238E27FC236}">
                <a16:creationId xmlns:a16="http://schemas.microsoft.com/office/drawing/2014/main" xmlns="" id="{7E1266A2-C5F6-636E-47B3-35C6BB68C15D}"/>
              </a:ext>
            </a:extLst>
          </p:cNvPr>
          <p:cNvSpPr/>
          <p:nvPr/>
        </p:nvSpPr>
        <p:spPr>
          <a:xfrm>
            <a:off x="749810" y="303862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Acct A</a:t>
            </a:r>
            <a:endParaRPr lang="en-US" sz="700" dirty="0"/>
          </a:p>
        </p:txBody>
      </p:sp>
      <p:sp>
        <p:nvSpPr>
          <p:cNvPr id="183" name="Text 27">
            <a:extLst>
              <a:ext uri="{FF2B5EF4-FFF2-40B4-BE49-F238E27FC236}">
                <a16:creationId xmlns:a16="http://schemas.microsoft.com/office/drawing/2014/main" xmlns="" id="{6F7F6A94-36A4-6217-5192-8C66273DDE77}"/>
              </a:ext>
            </a:extLst>
          </p:cNvPr>
          <p:cNvSpPr/>
          <p:nvPr/>
        </p:nvSpPr>
        <p:spPr>
          <a:xfrm>
            <a:off x="1188722" y="299290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</a:rPr>
              <a:t>Deploy contract + verify AUTHORITY_ROLE on Role Manager dashboard</a:t>
            </a:r>
            <a:endParaRPr lang="en-US" sz="800" dirty="0"/>
          </a:p>
        </p:txBody>
      </p:sp>
      <p:sp>
        <p:nvSpPr>
          <p:cNvPr id="184" name="Text 28">
            <a:extLst>
              <a:ext uri="{FF2B5EF4-FFF2-40B4-BE49-F238E27FC236}">
                <a16:creationId xmlns:a16="http://schemas.microsoft.com/office/drawing/2014/main" xmlns="" id="{6DBDA34E-87E9-5EDF-CB0A-21367FD7A98C}"/>
              </a:ext>
            </a:extLst>
          </p:cNvPr>
          <p:cNvSpPr/>
          <p:nvPr/>
        </p:nvSpPr>
        <p:spPr>
          <a:xfrm>
            <a:off x="5120642" y="299290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✅  Contract live at Sepolia address. Authority confirmed.</a:t>
            </a:r>
            <a:endParaRPr lang="en-US" sz="750" dirty="0"/>
          </a:p>
        </p:txBody>
      </p:sp>
      <p:sp>
        <p:nvSpPr>
          <p:cNvPr id="185" name="Shape 29">
            <a:extLst>
              <a:ext uri="{FF2B5EF4-FFF2-40B4-BE49-F238E27FC236}">
                <a16:creationId xmlns:a16="http://schemas.microsoft.com/office/drawing/2014/main" xmlns="" id="{EF9994E4-8FA3-8E7A-ACA7-D7A7593C1EEC}"/>
              </a:ext>
            </a:extLst>
          </p:cNvPr>
          <p:cNvSpPr/>
          <p:nvPr/>
        </p:nvSpPr>
        <p:spPr>
          <a:xfrm>
            <a:off x="457202" y="3285514"/>
            <a:ext cx="82296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86" name="Shape 30">
            <a:extLst>
              <a:ext uri="{FF2B5EF4-FFF2-40B4-BE49-F238E27FC236}">
                <a16:creationId xmlns:a16="http://schemas.microsoft.com/office/drawing/2014/main" xmlns="" id="{EEF5B4C4-ED8D-D972-9719-B1356DB2D090}"/>
              </a:ext>
            </a:extLst>
          </p:cNvPr>
          <p:cNvSpPr/>
          <p:nvPr/>
        </p:nvSpPr>
        <p:spPr>
          <a:xfrm>
            <a:off x="502922" y="3331234"/>
            <a:ext cx="201168" cy="20116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87" name="Text 31">
            <a:extLst>
              <a:ext uri="{FF2B5EF4-FFF2-40B4-BE49-F238E27FC236}">
                <a16:creationId xmlns:a16="http://schemas.microsoft.com/office/drawing/2014/main" xmlns="" id="{A4C8CA14-9A24-A062-8914-D528A00D32FD}"/>
              </a:ext>
            </a:extLst>
          </p:cNvPr>
          <p:cNvSpPr/>
          <p:nvPr/>
        </p:nvSpPr>
        <p:spPr>
          <a:xfrm>
            <a:off x="502922" y="333123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02</a:t>
            </a:r>
            <a:endParaRPr lang="en-US" sz="700" dirty="0"/>
          </a:p>
        </p:txBody>
      </p:sp>
      <p:sp>
        <p:nvSpPr>
          <p:cNvPr id="188" name="Shape 32">
            <a:extLst>
              <a:ext uri="{FF2B5EF4-FFF2-40B4-BE49-F238E27FC236}">
                <a16:creationId xmlns:a16="http://schemas.microsoft.com/office/drawing/2014/main" xmlns="" id="{DE1F6655-7E0B-BC10-6A4B-029AF86555C7}"/>
              </a:ext>
            </a:extLst>
          </p:cNvPr>
          <p:cNvSpPr/>
          <p:nvPr/>
        </p:nvSpPr>
        <p:spPr>
          <a:xfrm>
            <a:off x="749810" y="3331234"/>
            <a:ext cx="384048" cy="201168"/>
          </a:xfrm>
          <a:prstGeom prst="rect">
            <a:avLst/>
          </a:prstGeom>
          <a:solidFill>
            <a:srgbClr val="0D1B2A">
              <a:alpha val="25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89" name="Text 33">
            <a:extLst>
              <a:ext uri="{FF2B5EF4-FFF2-40B4-BE49-F238E27FC236}">
                <a16:creationId xmlns:a16="http://schemas.microsoft.com/office/drawing/2014/main" xmlns="" id="{F8CB07FE-E5C2-BF6E-29C5-93AA7ED1C8E3}"/>
              </a:ext>
            </a:extLst>
          </p:cNvPr>
          <p:cNvSpPr/>
          <p:nvPr/>
        </p:nvSpPr>
        <p:spPr>
          <a:xfrm>
            <a:off x="749810" y="333123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Acct A</a:t>
            </a:r>
            <a:endParaRPr lang="en-US" sz="700" dirty="0"/>
          </a:p>
        </p:txBody>
      </p:sp>
      <p:sp>
        <p:nvSpPr>
          <p:cNvPr id="190" name="Text 34">
            <a:extLst>
              <a:ext uri="{FF2B5EF4-FFF2-40B4-BE49-F238E27FC236}">
                <a16:creationId xmlns:a16="http://schemas.microsoft.com/office/drawing/2014/main" xmlns="" id="{E548440B-9B7E-89B7-C409-0FCE5DEA167F}"/>
              </a:ext>
            </a:extLst>
          </p:cNvPr>
          <p:cNvSpPr/>
          <p:nvPr/>
        </p:nvSpPr>
        <p:spPr>
          <a:xfrm>
            <a:off x="1188722" y="328551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</a:rPr>
              <a:t>Grant REGISTRAR_ROLE to Account B via addRegistrar(B_address)</a:t>
            </a:r>
            <a:endParaRPr lang="en-US" sz="800" dirty="0"/>
          </a:p>
        </p:txBody>
      </p:sp>
      <p:sp>
        <p:nvSpPr>
          <p:cNvPr id="191" name="Text 35">
            <a:extLst>
              <a:ext uri="{FF2B5EF4-FFF2-40B4-BE49-F238E27FC236}">
                <a16:creationId xmlns:a16="http://schemas.microsoft.com/office/drawing/2014/main" xmlns="" id="{29EFBBC0-27B3-98C9-A5A0-D745178089EE}"/>
              </a:ext>
            </a:extLst>
          </p:cNvPr>
          <p:cNvSpPr/>
          <p:nvPr/>
        </p:nvSpPr>
        <p:spPr>
          <a:xfrm>
            <a:off x="5120642" y="3285514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✅  Account B gains REGISTRAR badge. Gas: ~50,000.</a:t>
            </a:r>
            <a:endParaRPr lang="en-US" sz="750" dirty="0"/>
          </a:p>
        </p:txBody>
      </p:sp>
      <p:sp>
        <p:nvSpPr>
          <p:cNvPr id="192" name="Shape 36">
            <a:extLst>
              <a:ext uri="{FF2B5EF4-FFF2-40B4-BE49-F238E27FC236}">
                <a16:creationId xmlns:a16="http://schemas.microsoft.com/office/drawing/2014/main" xmlns="" id="{5DA0CD38-2450-74D4-9854-D216A4403EC1}"/>
              </a:ext>
            </a:extLst>
          </p:cNvPr>
          <p:cNvSpPr/>
          <p:nvPr/>
        </p:nvSpPr>
        <p:spPr>
          <a:xfrm>
            <a:off x="457202" y="3578122"/>
            <a:ext cx="82296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3" name="Shape 37">
            <a:extLst>
              <a:ext uri="{FF2B5EF4-FFF2-40B4-BE49-F238E27FC236}">
                <a16:creationId xmlns:a16="http://schemas.microsoft.com/office/drawing/2014/main" xmlns="" id="{552377C6-05BC-E6B7-9B37-D91BC5246D80}"/>
              </a:ext>
            </a:extLst>
          </p:cNvPr>
          <p:cNvSpPr/>
          <p:nvPr/>
        </p:nvSpPr>
        <p:spPr>
          <a:xfrm>
            <a:off x="502922" y="3623842"/>
            <a:ext cx="201168" cy="20116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94" name="Text 38">
            <a:extLst>
              <a:ext uri="{FF2B5EF4-FFF2-40B4-BE49-F238E27FC236}">
                <a16:creationId xmlns:a16="http://schemas.microsoft.com/office/drawing/2014/main" xmlns="" id="{AB8893C5-D120-2F46-AF57-AF487D9CE8E8}"/>
              </a:ext>
            </a:extLst>
          </p:cNvPr>
          <p:cNvSpPr/>
          <p:nvPr/>
        </p:nvSpPr>
        <p:spPr>
          <a:xfrm>
            <a:off x="502922" y="362384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03</a:t>
            </a:r>
            <a:endParaRPr lang="en-US" sz="700" dirty="0"/>
          </a:p>
        </p:txBody>
      </p:sp>
      <p:sp>
        <p:nvSpPr>
          <p:cNvPr id="195" name="Shape 39">
            <a:extLst>
              <a:ext uri="{FF2B5EF4-FFF2-40B4-BE49-F238E27FC236}">
                <a16:creationId xmlns:a16="http://schemas.microsoft.com/office/drawing/2014/main" xmlns="" id="{B66DACF5-91E5-6C95-5E17-3955BC7BD3AE}"/>
              </a:ext>
            </a:extLst>
          </p:cNvPr>
          <p:cNvSpPr/>
          <p:nvPr/>
        </p:nvSpPr>
        <p:spPr>
          <a:xfrm>
            <a:off x="749810" y="3623842"/>
            <a:ext cx="384048" cy="201168"/>
          </a:xfrm>
          <a:prstGeom prst="rect">
            <a:avLst/>
          </a:prstGeom>
          <a:solidFill>
            <a:srgbClr val="0F7173">
              <a:alpha val="25000"/>
            </a:srgbClr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196" name="Text 40">
            <a:extLst>
              <a:ext uri="{FF2B5EF4-FFF2-40B4-BE49-F238E27FC236}">
                <a16:creationId xmlns:a16="http://schemas.microsoft.com/office/drawing/2014/main" xmlns="" id="{5D89AB65-DE50-4F91-B8AA-747B42889EB9}"/>
              </a:ext>
            </a:extLst>
          </p:cNvPr>
          <p:cNvSpPr/>
          <p:nvPr/>
        </p:nvSpPr>
        <p:spPr>
          <a:xfrm>
            <a:off x="749810" y="3623842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173"/>
                </a:solidFill>
              </a:rPr>
              <a:t>Acct B</a:t>
            </a:r>
            <a:endParaRPr lang="en-US" sz="700" dirty="0"/>
          </a:p>
        </p:txBody>
      </p:sp>
      <p:sp>
        <p:nvSpPr>
          <p:cNvPr id="197" name="Text 41">
            <a:extLst>
              <a:ext uri="{FF2B5EF4-FFF2-40B4-BE49-F238E27FC236}">
                <a16:creationId xmlns:a16="http://schemas.microsoft.com/office/drawing/2014/main" xmlns="" id="{5C4990F8-46D4-A2D3-6CD9-315C1C354F33}"/>
              </a:ext>
            </a:extLst>
          </p:cNvPr>
          <p:cNvSpPr/>
          <p:nvPr/>
        </p:nvSpPr>
        <p:spPr>
          <a:xfrm>
            <a:off x="1188722" y="3578122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</a:rPr>
              <a:t>registerProperty(owner=C, location, area, CID) with PDF deed uploaded to IPFS</a:t>
            </a:r>
            <a:endParaRPr lang="en-US" sz="800" dirty="0"/>
          </a:p>
        </p:txBody>
      </p:sp>
      <p:sp>
        <p:nvSpPr>
          <p:cNvPr id="198" name="Text 42">
            <a:extLst>
              <a:ext uri="{FF2B5EF4-FFF2-40B4-BE49-F238E27FC236}">
                <a16:creationId xmlns:a16="http://schemas.microsoft.com/office/drawing/2014/main" xmlns="" id="{447CE6A1-FF4B-A3E5-F388-79115D838215}"/>
              </a:ext>
            </a:extLst>
          </p:cNvPr>
          <p:cNvSpPr/>
          <p:nvPr/>
        </p:nvSpPr>
        <p:spPr>
          <a:xfrm>
            <a:off x="5120642" y="3578122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✅  Property #1 minted. CID stored on-chain. Gas: ~244,229.</a:t>
            </a:r>
            <a:endParaRPr lang="en-US" sz="750" dirty="0"/>
          </a:p>
        </p:txBody>
      </p:sp>
      <p:sp>
        <p:nvSpPr>
          <p:cNvPr id="199" name="Shape 43">
            <a:extLst>
              <a:ext uri="{FF2B5EF4-FFF2-40B4-BE49-F238E27FC236}">
                <a16:creationId xmlns:a16="http://schemas.microsoft.com/office/drawing/2014/main" xmlns="" id="{C411A857-D795-1DCD-6FF4-D00EFBAED3D6}"/>
              </a:ext>
            </a:extLst>
          </p:cNvPr>
          <p:cNvSpPr/>
          <p:nvPr/>
        </p:nvSpPr>
        <p:spPr>
          <a:xfrm>
            <a:off x="457202" y="3870730"/>
            <a:ext cx="82296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0" name="Shape 44">
            <a:extLst>
              <a:ext uri="{FF2B5EF4-FFF2-40B4-BE49-F238E27FC236}">
                <a16:creationId xmlns:a16="http://schemas.microsoft.com/office/drawing/2014/main" xmlns="" id="{84C47445-D22A-67AD-9AC8-AF5D46E48A9E}"/>
              </a:ext>
            </a:extLst>
          </p:cNvPr>
          <p:cNvSpPr/>
          <p:nvPr/>
        </p:nvSpPr>
        <p:spPr>
          <a:xfrm>
            <a:off x="502922" y="3916450"/>
            <a:ext cx="201168" cy="20116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01" name="Text 45">
            <a:extLst>
              <a:ext uri="{FF2B5EF4-FFF2-40B4-BE49-F238E27FC236}">
                <a16:creationId xmlns:a16="http://schemas.microsoft.com/office/drawing/2014/main" xmlns="" id="{0EBD44AC-4217-1B6B-D29E-E0B68138AD59}"/>
              </a:ext>
            </a:extLst>
          </p:cNvPr>
          <p:cNvSpPr/>
          <p:nvPr/>
        </p:nvSpPr>
        <p:spPr>
          <a:xfrm>
            <a:off x="502922" y="391645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04</a:t>
            </a:r>
            <a:endParaRPr lang="en-US" sz="700" dirty="0"/>
          </a:p>
        </p:txBody>
      </p:sp>
      <p:sp>
        <p:nvSpPr>
          <p:cNvPr id="202" name="Shape 46">
            <a:extLst>
              <a:ext uri="{FF2B5EF4-FFF2-40B4-BE49-F238E27FC236}">
                <a16:creationId xmlns:a16="http://schemas.microsoft.com/office/drawing/2014/main" xmlns="" id="{FC8B0233-B4DB-2227-E6DF-0DF5335BBB4C}"/>
              </a:ext>
            </a:extLst>
          </p:cNvPr>
          <p:cNvSpPr/>
          <p:nvPr/>
        </p:nvSpPr>
        <p:spPr>
          <a:xfrm>
            <a:off x="749810" y="3916450"/>
            <a:ext cx="384048" cy="201168"/>
          </a:xfrm>
          <a:prstGeom prst="rect">
            <a:avLst/>
          </a:prstGeom>
          <a:solidFill>
            <a:srgbClr val="14A29A">
              <a:alpha val="25000"/>
            </a:srgbClr>
          </a:solidFill>
          <a:ln w="12700">
            <a:solidFill>
              <a:srgbClr val="14A29A"/>
            </a:solidFill>
            <a:prstDash val="solid"/>
          </a:ln>
        </p:spPr>
      </p:sp>
      <p:sp>
        <p:nvSpPr>
          <p:cNvPr id="203" name="Text 47">
            <a:extLst>
              <a:ext uri="{FF2B5EF4-FFF2-40B4-BE49-F238E27FC236}">
                <a16:creationId xmlns:a16="http://schemas.microsoft.com/office/drawing/2014/main" xmlns="" id="{A774518F-D911-60ED-1248-0EEB45763227}"/>
              </a:ext>
            </a:extLst>
          </p:cNvPr>
          <p:cNvSpPr/>
          <p:nvPr/>
        </p:nvSpPr>
        <p:spPr>
          <a:xfrm>
            <a:off x="749810" y="3916450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4A29A"/>
                </a:solidFill>
              </a:rPr>
              <a:t>Acct C</a:t>
            </a:r>
            <a:endParaRPr lang="en-US" sz="700" dirty="0"/>
          </a:p>
        </p:txBody>
      </p:sp>
      <p:sp>
        <p:nvSpPr>
          <p:cNvPr id="204" name="Text 48">
            <a:extLst>
              <a:ext uri="{FF2B5EF4-FFF2-40B4-BE49-F238E27FC236}">
                <a16:creationId xmlns:a16="http://schemas.microsoft.com/office/drawing/2014/main" xmlns="" id="{EA4FB60B-A7D9-DB82-7E5F-F5BC7A1C854D}"/>
              </a:ext>
            </a:extLst>
          </p:cNvPr>
          <p:cNvSpPr/>
          <p:nvPr/>
        </p:nvSpPr>
        <p:spPr>
          <a:xfrm>
            <a:off x="1188722" y="3870730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</a:rPr>
              <a:t>requestTransfer(propertyId=1, buyer=A_address)</a:t>
            </a:r>
            <a:endParaRPr lang="en-US" sz="800" dirty="0"/>
          </a:p>
        </p:txBody>
      </p:sp>
      <p:sp>
        <p:nvSpPr>
          <p:cNvPr id="205" name="Text 49">
            <a:extLst>
              <a:ext uri="{FF2B5EF4-FFF2-40B4-BE49-F238E27FC236}">
                <a16:creationId xmlns:a16="http://schemas.microsoft.com/office/drawing/2014/main" xmlns="" id="{CF2DC82E-CC07-F42D-715F-EE95B9B5F93D}"/>
              </a:ext>
            </a:extLst>
          </p:cNvPr>
          <p:cNvSpPr/>
          <p:nvPr/>
        </p:nvSpPr>
        <p:spPr>
          <a:xfrm>
            <a:off x="5120642" y="3870730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✅  Property #1 set to PENDING. Transfer request queued. Gas: ~51,500.</a:t>
            </a:r>
            <a:endParaRPr lang="en-US" sz="750" dirty="0"/>
          </a:p>
        </p:txBody>
      </p:sp>
      <p:sp>
        <p:nvSpPr>
          <p:cNvPr id="206" name="Shape 50">
            <a:extLst>
              <a:ext uri="{FF2B5EF4-FFF2-40B4-BE49-F238E27FC236}">
                <a16:creationId xmlns:a16="http://schemas.microsoft.com/office/drawing/2014/main" xmlns="" id="{3F8F484E-74CD-BED6-400A-0AB8C992B16D}"/>
              </a:ext>
            </a:extLst>
          </p:cNvPr>
          <p:cNvSpPr/>
          <p:nvPr/>
        </p:nvSpPr>
        <p:spPr>
          <a:xfrm>
            <a:off x="457202" y="4163338"/>
            <a:ext cx="82296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7" name="Shape 51">
            <a:extLst>
              <a:ext uri="{FF2B5EF4-FFF2-40B4-BE49-F238E27FC236}">
                <a16:creationId xmlns:a16="http://schemas.microsoft.com/office/drawing/2014/main" xmlns="" id="{F5E30595-34C7-ABEE-D9E5-3E0EF7C607DD}"/>
              </a:ext>
            </a:extLst>
          </p:cNvPr>
          <p:cNvSpPr/>
          <p:nvPr/>
        </p:nvSpPr>
        <p:spPr>
          <a:xfrm>
            <a:off x="502922" y="4209058"/>
            <a:ext cx="201168" cy="20116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08" name="Text 52">
            <a:extLst>
              <a:ext uri="{FF2B5EF4-FFF2-40B4-BE49-F238E27FC236}">
                <a16:creationId xmlns:a16="http://schemas.microsoft.com/office/drawing/2014/main" xmlns="" id="{78017610-B9AC-4816-B930-7E4B0FBAB804}"/>
              </a:ext>
            </a:extLst>
          </p:cNvPr>
          <p:cNvSpPr/>
          <p:nvPr/>
        </p:nvSpPr>
        <p:spPr>
          <a:xfrm>
            <a:off x="502922" y="4209058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05</a:t>
            </a:r>
            <a:endParaRPr lang="en-US" sz="700" dirty="0"/>
          </a:p>
        </p:txBody>
      </p:sp>
      <p:sp>
        <p:nvSpPr>
          <p:cNvPr id="209" name="Shape 53">
            <a:extLst>
              <a:ext uri="{FF2B5EF4-FFF2-40B4-BE49-F238E27FC236}">
                <a16:creationId xmlns:a16="http://schemas.microsoft.com/office/drawing/2014/main" xmlns="" id="{4CD7825A-697D-0688-780C-4FB56FED2C37}"/>
              </a:ext>
            </a:extLst>
          </p:cNvPr>
          <p:cNvSpPr/>
          <p:nvPr/>
        </p:nvSpPr>
        <p:spPr>
          <a:xfrm>
            <a:off x="749810" y="4209058"/>
            <a:ext cx="384048" cy="201168"/>
          </a:xfrm>
          <a:prstGeom prst="rect">
            <a:avLst/>
          </a:prstGeom>
          <a:solidFill>
            <a:srgbClr val="0F7173">
              <a:alpha val="25000"/>
            </a:srgbClr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10" name="Text 54">
            <a:extLst>
              <a:ext uri="{FF2B5EF4-FFF2-40B4-BE49-F238E27FC236}">
                <a16:creationId xmlns:a16="http://schemas.microsoft.com/office/drawing/2014/main" xmlns="" id="{4883A74D-D7EB-C185-795C-D02196A16754}"/>
              </a:ext>
            </a:extLst>
          </p:cNvPr>
          <p:cNvSpPr/>
          <p:nvPr/>
        </p:nvSpPr>
        <p:spPr>
          <a:xfrm>
            <a:off x="749810" y="420905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F7173"/>
                </a:solidFill>
              </a:rPr>
              <a:t>Acct B</a:t>
            </a:r>
            <a:endParaRPr lang="en-US" sz="700" dirty="0"/>
          </a:p>
        </p:txBody>
      </p:sp>
      <p:sp>
        <p:nvSpPr>
          <p:cNvPr id="211" name="Text 55">
            <a:extLst>
              <a:ext uri="{FF2B5EF4-FFF2-40B4-BE49-F238E27FC236}">
                <a16:creationId xmlns:a16="http://schemas.microsoft.com/office/drawing/2014/main" xmlns="" id="{70066CF7-763B-ECB9-BDD2-284150D56C3E}"/>
              </a:ext>
            </a:extLst>
          </p:cNvPr>
          <p:cNvSpPr/>
          <p:nvPr/>
        </p:nvSpPr>
        <p:spPr>
          <a:xfrm>
            <a:off x="1188722" y="4163338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</a:rPr>
              <a:t>approveTransfer(propertyId=1) — validates request and executes</a:t>
            </a:r>
            <a:endParaRPr lang="en-US" sz="800" dirty="0"/>
          </a:p>
        </p:txBody>
      </p:sp>
      <p:sp>
        <p:nvSpPr>
          <p:cNvPr id="212" name="Text 56">
            <a:extLst>
              <a:ext uri="{FF2B5EF4-FFF2-40B4-BE49-F238E27FC236}">
                <a16:creationId xmlns:a16="http://schemas.microsoft.com/office/drawing/2014/main" xmlns="" id="{8F7DFFB6-FFC5-7BEC-6E72-B01C667B0917}"/>
              </a:ext>
            </a:extLst>
          </p:cNvPr>
          <p:cNvSpPr/>
          <p:nvPr/>
        </p:nvSpPr>
        <p:spPr>
          <a:xfrm>
            <a:off x="5120642" y="4163338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✅  Ownership transferred to Account A. Gas: ~38,852.</a:t>
            </a:r>
            <a:endParaRPr lang="en-US" sz="750" dirty="0"/>
          </a:p>
        </p:txBody>
      </p:sp>
      <p:sp>
        <p:nvSpPr>
          <p:cNvPr id="213" name="Shape 57">
            <a:extLst>
              <a:ext uri="{FF2B5EF4-FFF2-40B4-BE49-F238E27FC236}">
                <a16:creationId xmlns:a16="http://schemas.microsoft.com/office/drawing/2014/main" xmlns="" id="{9C6BE06B-9F53-9627-67E4-D3BB268881F0}"/>
              </a:ext>
            </a:extLst>
          </p:cNvPr>
          <p:cNvSpPr/>
          <p:nvPr/>
        </p:nvSpPr>
        <p:spPr>
          <a:xfrm>
            <a:off x="457202" y="4455946"/>
            <a:ext cx="822960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4" name="Shape 58">
            <a:extLst>
              <a:ext uri="{FF2B5EF4-FFF2-40B4-BE49-F238E27FC236}">
                <a16:creationId xmlns:a16="http://schemas.microsoft.com/office/drawing/2014/main" xmlns="" id="{7ECEFF78-9EA3-088D-5183-A226407CAA5C}"/>
              </a:ext>
            </a:extLst>
          </p:cNvPr>
          <p:cNvSpPr/>
          <p:nvPr/>
        </p:nvSpPr>
        <p:spPr>
          <a:xfrm>
            <a:off x="502922" y="4501666"/>
            <a:ext cx="201168" cy="20116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15" name="Text 59">
            <a:extLst>
              <a:ext uri="{FF2B5EF4-FFF2-40B4-BE49-F238E27FC236}">
                <a16:creationId xmlns:a16="http://schemas.microsoft.com/office/drawing/2014/main" xmlns="" id="{E1712293-7562-293D-2E4A-A6DD85AD44B9}"/>
              </a:ext>
            </a:extLst>
          </p:cNvPr>
          <p:cNvSpPr/>
          <p:nvPr/>
        </p:nvSpPr>
        <p:spPr>
          <a:xfrm>
            <a:off x="502922" y="450166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06</a:t>
            </a:r>
            <a:endParaRPr lang="en-US" sz="700" dirty="0"/>
          </a:p>
        </p:txBody>
      </p:sp>
      <p:sp>
        <p:nvSpPr>
          <p:cNvPr id="216" name="Shape 60">
            <a:extLst>
              <a:ext uri="{FF2B5EF4-FFF2-40B4-BE49-F238E27FC236}">
                <a16:creationId xmlns:a16="http://schemas.microsoft.com/office/drawing/2014/main" xmlns="" id="{4D60AE5A-D7C7-1689-1DCF-61D25A54E2D0}"/>
              </a:ext>
            </a:extLst>
          </p:cNvPr>
          <p:cNvSpPr/>
          <p:nvPr/>
        </p:nvSpPr>
        <p:spPr>
          <a:xfrm>
            <a:off x="749810" y="4501666"/>
            <a:ext cx="384048" cy="201168"/>
          </a:xfrm>
          <a:prstGeom prst="rect">
            <a:avLst/>
          </a:prstGeom>
          <a:solidFill>
            <a:srgbClr val="0D1B2A">
              <a:alpha val="25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7" name="Text 61">
            <a:extLst>
              <a:ext uri="{FF2B5EF4-FFF2-40B4-BE49-F238E27FC236}">
                <a16:creationId xmlns:a16="http://schemas.microsoft.com/office/drawing/2014/main" xmlns="" id="{12E09A9C-7F40-9B3C-43C6-9B274A8B1FE4}"/>
              </a:ext>
            </a:extLst>
          </p:cNvPr>
          <p:cNvSpPr/>
          <p:nvPr/>
        </p:nvSpPr>
        <p:spPr>
          <a:xfrm>
            <a:off x="749810" y="4501666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Acct A</a:t>
            </a:r>
            <a:endParaRPr lang="en-US" sz="700" dirty="0"/>
          </a:p>
        </p:txBody>
      </p:sp>
      <p:sp>
        <p:nvSpPr>
          <p:cNvPr id="218" name="Text 62">
            <a:extLst>
              <a:ext uri="{FF2B5EF4-FFF2-40B4-BE49-F238E27FC236}">
                <a16:creationId xmlns:a16="http://schemas.microsoft.com/office/drawing/2014/main" xmlns="" id="{A5A44AB1-3DA1-62F8-D7D6-303135743F0D}"/>
              </a:ext>
            </a:extLst>
          </p:cNvPr>
          <p:cNvSpPr/>
          <p:nvPr/>
        </p:nvSpPr>
        <p:spPr>
          <a:xfrm>
            <a:off x="1188722" y="4455946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</a:rPr>
              <a:t>requestTransfer → then cancelTransfer before Registrar approves</a:t>
            </a:r>
            <a:endParaRPr lang="en-US" sz="800" dirty="0"/>
          </a:p>
        </p:txBody>
      </p:sp>
      <p:sp>
        <p:nvSpPr>
          <p:cNvPr id="219" name="Text 63">
            <a:extLst>
              <a:ext uri="{FF2B5EF4-FFF2-40B4-BE49-F238E27FC236}">
                <a16:creationId xmlns:a16="http://schemas.microsoft.com/office/drawing/2014/main" xmlns="" id="{71C9D8B7-EE26-6B12-0590-7E7565044248}"/>
              </a:ext>
            </a:extLst>
          </p:cNvPr>
          <p:cNvSpPr/>
          <p:nvPr/>
        </p:nvSpPr>
        <p:spPr>
          <a:xfrm>
            <a:off x="5120642" y="4455946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✅  Transfer cancelled. Property returns to AVAILABLE state. Gas: ~45,000.</a:t>
            </a:r>
            <a:endParaRPr lang="en-US" sz="750" dirty="0"/>
          </a:p>
        </p:txBody>
      </p:sp>
      <p:sp>
        <p:nvSpPr>
          <p:cNvPr id="220" name="Shape 64">
            <a:extLst>
              <a:ext uri="{FF2B5EF4-FFF2-40B4-BE49-F238E27FC236}">
                <a16:creationId xmlns:a16="http://schemas.microsoft.com/office/drawing/2014/main" xmlns="" id="{62432BF1-3968-13AC-F9EC-AB8385D25294}"/>
              </a:ext>
            </a:extLst>
          </p:cNvPr>
          <p:cNvSpPr/>
          <p:nvPr/>
        </p:nvSpPr>
        <p:spPr>
          <a:xfrm>
            <a:off x="457202" y="4748554"/>
            <a:ext cx="8229600" cy="29260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1" name="Shape 65">
            <a:extLst>
              <a:ext uri="{FF2B5EF4-FFF2-40B4-BE49-F238E27FC236}">
                <a16:creationId xmlns:a16="http://schemas.microsoft.com/office/drawing/2014/main" xmlns="" id="{3AF0A856-329A-FF00-DCE5-287849CC16B0}"/>
              </a:ext>
            </a:extLst>
          </p:cNvPr>
          <p:cNvSpPr/>
          <p:nvPr/>
        </p:nvSpPr>
        <p:spPr>
          <a:xfrm>
            <a:off x="502922" y="4794274"/>
            <a:ext cx="201168" cy="201168"/>
          </a:xfrm>
          <a:prstGeom prst="ellipse">
            <a:avLst/>
          </a:prstGeom>
          <a:solidFill>
            <a:srgbClr val="0F7173"/>
          </a:solidFill>
          <a:ln w="12700">
            <a:solidFill>
              <a:srgbClr val="0F7173"/>
            </a:solidFill>
            <a:prstDash val="solid"/>
          </a:ln>
        </p:spPr>
      </p:sp>
      <p:sp>
        <p:nvSpPr>
          <p:cNvPr id="222" name="Text 66">
            <a:extLst>
              <a:ext uri="{FF2B5EF4-FFF2-40B4-BE49-F238E27FC236}">
                <a16:creationId xmlns:a16="http://schemas.microsoft.com/office/drawing/2014/main" xmlns="" id="{75CF3328-57ED-4F6D-BBFB-95C244C21F17}"/>
              </a:ext>
            </a:extLst>
          </p:cNvPr>
          <p:cNvSpPr/>
          <p:nvPr/>
        </p:nvSpPr>
        <p:spPr>
          <a:xfrm>
            <a:off x="502922" y="4794274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07</a:t>
            </a:r>
            <a:endParaRPr lang="en-US" sz="700" dirty="0"/>
          </a:p>
        </p:txBody>
      </p:sp>
      <p:sp>
        <p:nvSpPr>
          <p:cNvPr id="223" name="Shape 67">
            <a:extLst>
              <a:ext uri="{FF2B5EF4-FFF2-40B4-BE49-F238E27FC236}">
                <a16:creationId xmlns:a16="http://schemas.microsoft.com/office/drawing/2014/main" xmlns="" id="{6174444F-FE34-C899-FB53-543D986E1E11}"/>
              </a:ext>
            </a:extLst>
          </p:cNvPr>
          <p:cNvSpPr/>
          <p:nvPr/>
        </p:nvSpPr>
        <p:spPr>
          <a:xfrm>
            <a:off x="749810" y="4794274"/>
            <a:ext cx="384048" cy="201168"/>
          </a:xfrm>
          <a:prstGeom prst="rect">
            <a:avLst/>
          </a:prstGeom>
          <a:solidFill>
            <a:srgbClr val="0D1B2A">
              <a:alpha val="25000"/>
            </a:srgbClr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4" name="Text 68">
            <a:extLst>
              <a:ext uri="{FF2B5EF4-FFF2-40B4-BE49-F238E27FC236}">
                <a16:creationId xmlns:a16="http://schemas.microsoft.com/office/drawing/2014/main" xmlns="" id="{72846EE0-49FC-9563-DE4D-A12ED996E92E}"/>
              </a:ext>
            </a:extLst>
          </p:cNvPr>
          <p:cNvSpPr/>
          <p:nvPr/>
        </p:nvSpPr>
        <p:spPr>
          <a:xfrm>
            <a:off x="749810" y="4794274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0D1B2A"/>
                </a:solidFill>
              </a:rPr>
              <a:t>Acct A</a:t>
            </a:r>
            <a:endParaRPr lang="en-US" sz="700" dirty="0"/>
          </a:p>
        </p:txBody>
      </p:sp>
      <p:sp>
        <p:nvSpPr>
          <p:cNvPr id="225" name="Text 69">
            <a:extLst>
              <a:ext uri="{FF2B5EF4-FFF2-40B4-BE49-F238E27FC236}">
                <a16:creationId xmlns:a16="http://schemas.microsoft.com/office/drawing/2014/main" xmlns="" id="{85F854C3-DEC5-8582-1D7E-ADABD2D834F3}"/>
              </a:ext>
            </a:extLst>
          </p:cNvPr>
          <p:cNvSpPr/>
          <p:nvPr/>
        </p:nvSpPr>
        <p:spPr>
          <a:xfrm>
            <a:off x="1188722" y="474855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E293B"/>
                </a:solidFill>
              </a:rPr>
              <a:t>revokeRegistrar(B_address) → Account B attempts registerProperty()</a:t>
            </a:r>
            <a:endParaRPr lang="en-US" sz="800" dirty="0"/>
          </a:p>
        </p:txBody>
      </p:sp>
      <p:sp>
        <p:nvSpPr>
          <p:cNvPr id="226" name="Text 70">
            <a:extLst>
              <a:ext uri="{FF2B5EF4-FFF2-40B4-BE49-F238E27FC236}">
                <a16:creationId xmlns:a16="http://schemas.microsoft.com/office/drawing/2014/main" xmlns="" id="{CC3874DE-EB09-6AF1-50E8-CA0718726F47}"/>
              </a:ext>
            </a:extLst>
          </p:cNvPr>
          <p:cNvSpPr/>
          <p:nvPr/>
        </p:nvSpPr>
        <p:spPr>
          <a:xfrm>
            <a:off x="5120642" y="4748554"/>
            <a:ext cx="3474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475569"/>
                </a:solidFill>
              </a:rPr>
              <a:t>✅  B's tx reverts with AccessControl error. RBAC enforced at EVM level.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Comparative Analysis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TerraLedger vs. existing government and blockchain-based systems.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79011935"/>
              </p:ext>
            </p:extLst>
          </p:nvPr>
        </p:nvGraphicFramePr>
        <p:xfrm>
          <a:off x="411480" y="1371600"/>
          <a:ext cx="8321040" cy="345643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xmlns="" val="20005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DILRMP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(India Gov)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Bhoomi 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Dharani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Chromaway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(Sweden)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(Ours)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Immutable Records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Verifiability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IPFS Document Storage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Zero-Trust Proof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Wallet-less Read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RBAC Hierarchy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On-Chain Audit Trail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4956048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TerraLedger is the only system providing all 8 features simultaneously — the only one with IPFS + Zero-Trust + Wallet-less access.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ANALYSIS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321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Threat Mitigation Matrix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11480" y="896112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security model: Γ(S_Pending, σ_Registrar, σ_Buyer) → S_Transferred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11480" y="1188720"/>
            <a:ext cx="83210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371600"/>
            <a:ext cx="45720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1732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Minting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0" y="141732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OpenZeppelin RBAC — only whitelisted REGISTRAR_ROLE wallets can execute state-changing registration functions. Enforced at EVM level.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1480" y="1975104"/>
            <a:ext cx="832104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975104"/>
            <a:ext cx="45720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020824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Tampering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020824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IPFS content-addressing (CIDs). Altering a single byte of a deed changes the hash entirely, breaking the link to the immutable blockchain record.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" y="2578608"/>
            <a:ext cx="832104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" y="2578608"/>
            <a:ext cx="45720" cy="5486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24328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Front-Running Transfers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68880" y="2624328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Dual-signature workflow. No transfer finalizes without both the owner's requestTransfer() and the Registrar's approveTransfer() — two independent on-chain signatures.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11480" y="3182112"/>
            <a:ext cx="832104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182112"/>
            <a:ext cx="45720" cy="5486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227832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Double-Spending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468880" y="3227832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PoS consensus (Sepolia). Blockchain enforces single-state truth — no duplicate ownership is possible across the distributed ledger.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1480" y="3785616"/>
            <a:ext cx="832104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3785616"/>
            <a:ext cx="4572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831336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Network Interaction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468880" y="3831336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NetworkGuard.jsx + useNetwork.js hooks listen to chainChanged events and render a full-screen block overlay if user is on Mainnet or any non-Sepolia chain.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11480" y="4389120"/>
            <a:ext cx="8321040" cy="548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1480" y="4389120"/>
            <a:ext cx="45720" cy="548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" y="4434840"/>
            <a:ext cx="1828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Upgrade (Future)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468880" y="4434840"/>
            <a:ext cx="6126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UUPS pattern: upgrades restricted to AUTHORITY_ROLE (Gnosis Safe multi-sig) with a 48-hour TimelockController delay for community audit.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868680"/>
            <a:ext cx="475488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868680"/>
            <a:ext cx="4206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TerraLedger shifts land titles from presumptive (trust-based) to conclusive (cryptographically secured) — a fundamental legal upgrade enabled by a hybrid Ethereum + IPFS architecture.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02920" y="1856232"/>
            <a:ext cx="475488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5623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1856232"/>
            <a:ext cx="4206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Zero-Trust verification (SHA-256 + IPFS CID) allows any citizen to independently audit any deed without trusting any authority, government, or intermediary.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843784"/>
            <a:ext cx="475488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284378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2843784"/>
            <a:ext cx="4206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feasibility demonstrated: full registration at ~0.00037 ETH (244,229 gas at 1.505 Gwei) — a fraction of traditional administrative fees.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831336"/>
            <a:ext cx="475488" cy="47548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383133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3831336"/>
            <a:ext cx="42062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UUPS upgradeability, The Graph indexing, and a Dynamic RPC fallback layer position TerraLedger as a production-ready, scalable land governance framework.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760720" y="228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760720" y="643595"/>
            <a:ext cx="32004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7880" y="698459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GPS Boundary Markers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897880" y="1009355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coordinates → smart contract, preventing illegal encroachment.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760720" y="1484843"/>
            <a:ext cx="32004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97880" y="1539707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Zero-Knowledge Proofs (ZKPs)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897880" y="1850603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ownership without revealing personal details — privacy-preserving records.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60720" y="2326091"/>
            <a:ext cx="32004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97880" y="2380955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Deployment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897880" y="2691851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/ Arbitrum for sub-cent gas fees, inheriting Ethereum PoS security.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760720" y="3167339"/>
            <a:ext cx="32004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97880" y="3222203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Integration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897880" y="3533099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Decentralized indexing — instant O(1) queries replacing O(n) eth_getLogs scans.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760720" y="4008587"/>
            <a:ext cx="3200400" cy="74980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97880" y="4063451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Act 2000 Compliance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897880" y="4374347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integration to grant blockchain titles full evidentiary weight in Indian courts.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02920" y="4794269"/>
            <a:ext cx="8321040" cy="25603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11480" y="4801303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github.com/anilabhbarua/TerraLedger  |  Gauhati University, 2026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1729</Words>
  <Application>Microsoft Office PowerPoint</Application>
  <PresentationFormat>On-screen Show (16:9)</PresentationFormat>
  <Paragraphs>388</Paragraphs>
  <Slides>14</Slides>
  <Notes>14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TerraLedger</dc:title>
  <dc:subject>PptxGenJS Presentation</dc:subject>
  <dc:creator>PptxGenJS</dc:creator>
  <cp:lastModifiedBy>user</cp:lastModifiedBy>
  <cp:revision>4</cp:revision>
  <cp:lastPrinted>2026-05-13T04:57:02Z</cp:lastPrinted>
  <dcterms:created xsi:type="dcterms:W3CDTF">2026-05-13T04:42:24Z</dcterms:created>
  <dcterms:modified xsi:type="dcterms:W3CDTF">2026-05-13T05:37:05Z</dcterms:modified>
</cp:coreProperties>
</file>